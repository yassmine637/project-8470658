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Raleway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Montserrat Medium"/>
      <p:regular r:id="rId32"/>
      <p:bold r:id="rId33"/>
      <p:italic r:id="rId34"/>
      <p:boldItalic r:id="rId35"/>
    </p:embeddedFont>
    <p:embeddedFont>
      <p:font typeface="Cinzel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D2862B-52F9-4485-B6A9-9AC04C1CC2F1}">
  <a:tblStyle styleId="{A1D2862B-52F9-4485-B6A9-9AC04C1CC2F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Raleway-regular.fntdata"/><Relationship Id="rId21" Type="http://schemas.openxmlformats.org/officeDocument/2006/relationships/font" Target="fonts/Raleway-bold.fntdata"/><Relationship Id="rId22" Type="http://schemas.openxmlformats.org/officeDocument/2006/relationships/font" Target="fonts/Raleway-italic.fntdata"/><Relationship Id="rId23" Type="http://schemas.openxmlformats.org/officeDocument/2006/relationships/font" Target="fonts/Raleway-boldItalic.fntdata"/><Relationship Id="rId24" Type="http://schemas.openxmlformats.org/officeDocument/2006/relationships/font" Target="fonts/Lato-regular.fntdata"/><Relationship Id="rId25" Type="http://schemas.openxmlformats.org/officeDocument/2006/relationships/font" Target="fonts/Lato-bold.fntdata"/><Relationship Id="rId26" Type="http://schemas.openxmlformats.org/officeDocument/2006/relationships/font" Target="fonts/Lato-italic.fntdata"/><Relationship Id="rId27" Type="http://schemas.openxmlformats.org/officeDocument/2006/relationships/font" Target="fonts/Lato-boldItalic.fntdata"/><Relationship Id="rId28" Type="http://schemas.openxmlformats.org/officeDocument/2006/relationships/font" Target="fonts/Montserrat-regular.fntdata"/><Relationship Id="rId29" Type="http://schemas.openxmlformats.org/officeDocument/2006/relationships/font" Target="fonts/Montserrat-bold.fntdata"/><Relationship Id="rId30" Type="http://schemas.openxmlformats.org/officeDocument/2006/relationships/font" Target="fonts/Montserrat-italic.fntdata"/><Relationship Id="rId31" Type="http://schemas.openxmlformats.org/officeDocument/2006/relationships/font" Target="fonts/Montserrat-boldItalic.fntdata"/><Relationship Id="rId32" Type="http://schemas.openxmlformats.org/officeDocument/2006/relationships/font" Target="fonts/MontserratMedium-regular.fntdata"/><Relationship Id="rId33" Type="http://schemas.openxmlformats.org/officeDocument/2006/relationships/font" Target="fonts/MontserratMedium-bold.fntdata"/><Relationship Id="rId34" Type="http://schemas.openxmlformats.org/officeDocument/2006/relationships/font" Target="fonts/MontserratMedium-italic.fntdata"/><Relationship Id="rId35" Type="http://schemas.openxmlformats.org/officeDocument/2006/relationships/font" Target="fonts/MontserratMedium-boldItalic.fntdata"/><Relationship Id="rId36" Type="http://schemas.openxmlformats.org/officeDocument/2006/relationships/font" Target="fonts/Cinzel-regular.fntdata"/><Relationship Id="rId37" Type="http://schemas.openxmlformats.org/officeDocument/2006/relationships/font" Target="fonts/Cinzel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972600" y="1763267"/>
            <a:ext cx="10250700" cy="221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972837" y="4230533"/>
            <a:ext cx="10250700" cy="721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972600" y="1763267"/>
            <a:ext cx="10251300" cy="202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972600" y="1758200"/>
            <a:ext cx="102516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72600" y="2771833"/>
            <a:ext cx="102516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972434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6191471" y="2771833"/>
            <a:ext cx="5032500" cy="301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972600" y="1758200"/>
            <a:ext cx="10251300" cy="713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12192000" cy="65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973333" y="1758200"/>
            <a:ext cx="4401300" cy="1842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961633" y="3708967"/>
            <a:ext cx="4401300" cy="2130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972600" y="1152400"/>
            <a:ext cx="9361500" cy="3980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1107036" y="1588427"/>
            <a:ext cx="994316" cy="61102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973333" y="1758200"/>
            <a:ext cx="4401300" cy="224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966600" y="4215367"/>
            <a:ext cx="4401300" cy="1011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6898967" y="1803500"/>
            <a:ext cx="4499100" cy="4034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966600" y="5830068"/>
            <a:ext cx="10263300" cy="6141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1107036" y="5558926"/>
            <a:ext cx="994316" cy="61102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972600" y="978600"/>
            <a:ext cx="10251300" cy="1659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00"/>
              <a:buNone/>
              <a:defRPr sz="107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972600" y="3030517"/>
            <a:ext cx="10251300" cy="210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Raleway"/>
              <a:buNone/>
              <a:defRPr b="1" sz="37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Lato"/>
              <a:buChar char="●"/>
              <a:defRPr sz="17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23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23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3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3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23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23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23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○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23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■"/>
              <a:defRPr sz="15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381736" y="6333134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1800">
        <p:fade thruBlk="1"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image" Target="../media/image6.png"/><Relationship Id="rId6" Type="http://schemas.openxmlformats.org/officeDocument/2006/relationships/image" Target="../media/image22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mage12.png"/><Relationship Id="rId7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Relationship Id="rId6" Type="http://schemas.openxmlformats.org/officeDocument/2006/relationships/image" Target="../media/image23.png"/><Relationship Id="rId7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35.png"/><Relationship Id="rId5" Type="http://schemas.openxmlformats.org/officeDocument/2006/relationships/image" Target="../media/image32.png"/><Relationship Id="rId6" Type="http://schemas.openxmlformats.org/officeDocument/2006/relationships/image" Target="../media/image36.png"/><Relationship Id="rId7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E1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6" name="Google Shape;8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96196"/>
            <a:ext cx="11049000" cy="116681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571500" y="1785491"/>
            <a:ext cx="110490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59B2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PROJET DE FIN D'ÉTUDES • ISIM SFAX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980485" y="2080766"/>
            <a:ext cx="8231028" cy="8057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DFBF7"/>
                </a:solidFill>
                <a:latin typeface="Cinzel"/>
                <a:ea typeface="Cinzel"/>
                <a:cs typeface="Cinzel"/>
                <a:sym typeface="Cinzel"/>
              </a:rPr>
              <a:t>CONCEPTION ET DÉVELOPPEMENT D'UNE APPLICATION E-COMMERCE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550" u="none" cap="none" strike="noStrike">
                <a:solidFill>
                  <a:srgbClr val="FDFBF7"/>
                </a:solidFill>
                <a:latin typeface="Cinzel"/>
                <a:ea typeface="Cinzel"/>
                <a:cs typeface="Cinzel"/>
                <a:sym typeface="Cinzel"/>
              </a:rPr>
              <a:t/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2176462" y="3000821"/>
            <a:ext cx="7839075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571500" y="3172271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DFBF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PLATEFORME FULLSTACK TRILINGUE — REACT · NODE.JS · MONGODB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482601" y="4343846"/>
            <a:ext cx="37337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PRÉSENTÉ PAR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571500" y="4562921"/>
            <a:ext cx="35559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Yessmine Hsine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Licence en Informatique &amp; Multimédia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29051" y="4343846"/>
            <a:ext cx="37337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ORGANISME D'ACCUEIL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317950" y="4562921"/>
            <a:ext cx="35559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Digilab Solutions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Soutenu le 01/06/2026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975498" y="4343846"/>
            <a:ext cx="373390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75" u="none" cap="none" strike="noStrike">
                <a:solidFill>
                  <a:srgbClr val="C59B27"/>
                </a:solidFill>
                <a:latin typeface="Cinzel"/>
                <a:ea typeface="Cinzel"/>
                <a:cs typeface="Cinzel"/>
                <a:sym typeface="Cinzel"/>
              </a:rPr>
              <a:t>MEMBRES DU JURY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8064400" y="4562921"/>
            <a:ext cx="3556099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M. Kharrat Ahmed (Président)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Mme Taktak Emna (Rapporteur)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FDFBF7"/>
                </a:solidFill>
                <a:latin typeface="Montserrat"/>
                <a:ea typeface="Montserrat"/>
                <a:cs typeface="Montserrat"/>
                <a:sym typeface="Montserrat"/>
              </a:rPr>
              <a:t> Mme Tagougui Najiba (Encadrante)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90812"/>
            <a:ext cx="533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690812"/>
            <a:ext cx="5334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866775" y="29860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L'Organisme d'Accueil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866775" y="33004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866775" y="34528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Digilab Solutions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est une agence de communication et de marketing digital de référence basée à l'Ariana, spécialisée dans :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6581775" y="29860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Le Produit : Domaine FENDRI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6581775" y="33004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581775" y="34528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 fleuron de l'oléiculture biologique tunisienne fondé en 1911 à Sfax :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828675" y="39957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866775" y="3995737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Le développement de solutions e-commerce et d'applications web métier.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828675" y="42910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866775" y="42910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L'accompagnement sur-mesure dans la transformation digitale des entreprises.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6543675" y="37957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581775" y="379571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Leader mondial de l'huile biologique monovariétale (Chetoui).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6543675" y="409098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6581775" y="4090987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Reconnu à l'international pour son excellence et sa pureté.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543675" y="438626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581775" y="4386262"/>
            <a:ext cx="47434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Besoin de valoriser ce patrimoine par une plateforme e-commerce digitale moderne.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CADRE &amp; CONTEXTE DU PROJET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7" name="Google Shape;12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166937"/>
            <a:ext cx="5334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571500" y="2166937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Les Limites de l'Existant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71500" y="2538412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Domaine Fendri, malgré 113 ans d'expertise et des distinctions internationales, ne dispose d'aucune présence e-commerce :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57250" y="30813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Absence e-commerce : Aucune boutique en ligne, ventes limitées au marché local tunisien.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57250" y="36528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Concurrence internationale : Les producteurs espagnols et italiens sont déjà bien positionnés en ligne.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57250" y="4224337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Barrière linguistique : Aucune interface multilingue pour atteindre les marchés européens et arabophones.</a:t>
            </a:r>
            <a:r>
              <a:rPr b="0" i="0" lang="en-US" sz="112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pic>
        <p:nvPicPr>
          <p:cNvPr descr="image.png" id="134" name="Google Shape;13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025" y="2176462"/>
            <a:ext cx="531495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1051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6766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48150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5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PROBLÉMATIQUE &amp; CONSTAT</a:t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4" name="Google Shape;14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1795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2747962"/>
            <a:ext cx="3555950" cy="217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6"/>
          <p:cNvSpPr txBox="1"/>
          <p:nvPr/>
        </p:nvSpPr>
        <p:spPr>
          <a:xfrm>
            <a:off x="81915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Catalogue E-Commerce Interactif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81915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Fiches produits complètes, panier d'achat, gestion des commandes et suivi en temps réel.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456560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Site Trilingue FR · AR · EN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456560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Interface multilingue avec support RTL arabe et switch de langue instantané sur toutes les pages.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312050" y="3557587"/>
            <a:ext cx="321368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Panel Admin &amp; Automatisation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312050" y="3929062"/>
            <a:ext cx="30606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Tableau de bord administrateur complet et emails automatiques via Nodemailer Gmail SMTP.</a:t>
            </a:r>
            <a:endParaRPr/>
          </a:p>
        </p:txBody>
      </p:sp>
      <p:pic>
        <p:nvPicPr>
          <p:cNvPr descr="image.png" id="154" name="Google Shape;154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9150" y="3033712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65600" y="303371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12050" y="3033712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LA SOLUTION : APPLICATION E-COMMERCE FULLSTACK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62437"/>
            <a:ext cx="254124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07419" y="2166937"/>
            <a:ext cx="2541240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43339" y="4262437"/>
            <a:ext cx="2541240" cy="161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79259" y="2166937"/>
            <a:ext cx="2541240" cy="161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/>
          <p:nvPr/>
        </p:nvSpPr>
        <p:spPr>
          <a:xfrm>
            <a:off x="571500" y="4005262"/>
            <a:ext cx="11049000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67988" y="4414837"/>
            <a:ext cx="2348262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1 : Architecture &amp; Base de Données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723900" y="5043487"/>
            <a:ext cx="223644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Mise en place de l'API REST Express, MongoDB Atlas, modèles Mongoose et authentification JWT.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3503908" y="23193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2 : Interface &amp; Navigation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3559819" y="26908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Développement React 19 + TailwindCSS, routing, composants UI et intégration i18next trilingue.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339828" y="44148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3 : Fonctionnalités Métier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6395739" y="47863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Catalogue, configurateur de bouteilles, panier, commandes, chatbot et emails automatiques.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9175748" y="2319337"/>
            <a:ext cx="234826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Sprint 4 : Admin &amp; Optimisation</a:t>
            </a:r>
            <a:endParaRPr/>
          </a:p>
        </p:txBody>
      </p:sp>
      <p:sp>
        <p:nvSpPr>
          <p:cNvPr id="176" name="Google Shape;176;p17"/>
          <p:cNvSpPr txBox="1"/>
          <p:nvPr/>
        </p:nvSpPr>
        <p:spPr>
          <a:xfrm>
            <a:off x="9231659" y="2690812"/>
            <a:ext cx="223644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Panel admin complet, gestion statuts commandes, responsive mobile et audit accessibilité.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MÉTHODOLOGIE AGILE SCRUM ADOPTÉE</a:t>
            </a:r>
            <a:endParaRPr/>
          </a:p>
        </p:txBody>
      </p:sp>
      <p:sp>
        <p:nvSpPr>
          <p:cNvPr id="178" name="Google Shape;178;p17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1756395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4592315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7428234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10264154" y="3938587"/>
            <a:ext cx="171450" cy="171450"/>
          </a:xfrm>
          <a:prstGeom prst="roundRect">
            <a:avLst>
              <a:gd fmla="val 50000" name="adj"/>
            </a:avLst>
          </a:prstGeom>
          <a:solidFill>
            <a:srgbClr val="FDFBF7"/>
          </a:solidFill>
          <a:ln cap="flat" cmpd="sng" w="38100">
            <a:solidFill>
              <a:srgbClr val="1E2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7" name="Google Shape;18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90787"/>
            <a:ext cx="5334000" cy="2686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490787"/>
            <a:ext cx="533400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866775" y="2786062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Matrice des Risques Clés</a:t>
            </a:r>
            <a:endParaRPr/>
          </a:p>
        </p:txBody>
      </p:sp>
      <p:sp>
        <p:nvSpPr>
          <p:cNvPr id="191" name="Google Shape;191;p18"/>
          <p:cNvSpPr/>
          <p:nvPr/>
        </p:nvSpPr>
        <p:spPr>
          <a:xfrm>
            <a:off x="866775" y="3100387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866775" y="325278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R1: Internationalisation arabe (RTL)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866775" y="37957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R2: Emails automatiques en production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866775" y="43386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R3: Responsive mobile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581775" y="2786062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Ressources Déployées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6581775" y="3100387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6581775" y="3252787"/>
            <a:ext cx="474345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Ressources Humaines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Yessmine Hsine (Développement complet), M. Hassen Laabidi (Encadrement pro), Mme Najiba Tagougui (Encadrement académique).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581775" y="39957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Ressources Techniques : React 19, TypeScript, TailwindCSS, Node.js, Express, MongoDB Atlas, Nodemailer.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199" name="Google Shape;199;p18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ANALYSE DES RISQUES &amp; RESSOURCES</a:t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5" name="Google Shape;20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95525"/>
            <a:ext cx="5429250" cy="30765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295525"/>
            <a:ext cx="5429250" cy="30765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95788" y="4305300"/>
            <a:ext cx="538067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Couche Présentation (Frontend)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723900" y="4676775"/>
            <a:ext cx="5124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React 19 + Vite + TypeScript · TailwindCSS · i18next (FR/AR/EN) · React Router — interface responsive et multilingue.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6215538" y="4305300"/>
            <a:ext cx="538067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Couche Logique (Backend)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6343650" y="4676775"/>
            <a:ext cx="5124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Node.js + Express · JWT + bcrypt · Nodemailer Gmail SMTP · Helmet + Rate-limiting — API REST sécurisée.</a:t>
            </a:r>
            <a:endParaRPr/>
          </a:p>
        </p:txBody>
      </p:sp>
      <p:pic>
        <p:nvPicPr>
          <p:cNvPr descr="image.png" id="212" name="Google Shape;212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3900" y="2447925"/>
            <a:ext cx="512445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86550" y="2447925"/>
            <a:ext cx="44386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ARCHITECTURE TECHNIQUE — 3 COUCHES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0" name="Google Shape;22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1" name="Google Shape;221;p20"/>
          <p:cNvGraphicFramePr/>
          <p:nvPr/>
        </p:nvGraphicFramePr>
        <p:xfrm>
          <a:off x="571500" y="28479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{A1D2862B-52F9-4485-B6A9-9AC04C1CC2F1}</a:tableStyleId>
              </a:tblPr>
              <a:tblGrid>
                <a:gridCol w="2638875"/>
                <a:gridCol w="1458825"/>
                <a:gridCol w="1372950"/>
                <a:gridCol w="1952325"/>
                <a:gridCol w="1877175"/>
                <a:gridCol w="1748875"/>
              </a:tblGrid>
              <a:tr h="39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Modèle Conçu sous Blender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Format Réel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Poids Initial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Poids WebP Optimisé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Réduction Globale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FDFBF7"/>
                          </a:solidFill>
                          <a:latin typeface="Cinzel"/>
                          <a:ea typeface="Cinzel"/>
                          <a:cs typeface="Cinzel"/>
                          <a:sym typeface="Cinzel"/>
                        </a:rPr>
                        <a:t>Statut Validation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E1F"/>
                    </a:solidFill>
                  </a:tcPr>
                </a:tc>
              </a:tr>
              <a:tr h="39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Bouteille Cylindrique 500 ml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Verre Premium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12,4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3,85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-69%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3B533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Validé</a:t>
                      </a:r>
                      <a:endParaRPr/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Bouteille Carrée Élancée 750 ml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Verre Luxe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13,9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3,76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-73%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3B533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Validé</a:t>
                      </a:r>
                      <a:endParaRPr/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</a:tr>
              <a:tr h="39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Bidon Métallique Tradition 3 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Métal Brillant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18,3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3,56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-81%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3B533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Validé</a:t>
                      </a:r>
                      <a:endParaRPr/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9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Bidon Vert Écologique 1 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Bio Protégé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8,75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3,87 Mo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000000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-56%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3B533E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Validé</a:t>
                      </a:r>
                      <a:endParaRPr/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B533E"/>
                    </a:solidFill>
                  </a:tcPr>
                </a:tc>
              </a:tr>
            </a:tbl>
          </a:graphicData>
        </a:graphic>
      </p:graphicFrame>
      <p:sp>
        <p:nvSpPr>
          <p:cNvPr id="222" name="Google Shape;222;p20"/>
          <p:cNvSpPr/>
          <p:nvPr/>
        </p:nvSpPr>
        <p:spPr>
          <a:xfrm>
            <a:off x="571500" y="3243262"/>
            <a:ext cx="2638871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3210371" y="3243262"/>
            <a:ext cx="1458813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0"/>
          <p:cNvSpPr/>
          <p:nvPr/>
        </p:nvSpPr>
        <p:spPr>
          <a:xfrm>
            <a:off x="4669184" y="3243262"/>
            <a:ext cx="137293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0"/>
          <p:cNvSpPr/>
          <p:nvPr/>
        </p:nvSpPr>
        <p:spPr>
          <a:xfrm>
            <a:off x="6042124" y="3243262"/>
            <a:ext cx="1952327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0"/>
          <p:cNvSpPr/>
          <p:nvPr/>
        </p:nvSpPr>
        <p:spPr>
          <a:xfrm>
            <a:off x="7994451" y="3243262"/>
            <a:ext cx="187716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0"/>
          <p:cNvSpPr/>
          <p:nvPr/>
        </p:nvSpPr>
        <p:spPr>
          <a:xfrm>
            <a:off x="9871620" y="3243262"/>
            <a:ext cx="174887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0"/>
          <p:cNvSpPr/>
          <p:nvPr/>
        </p:nvSpPr>
        <p:spPr>
          <a:xfrm>
            <a:off x="571500" y="3633787"/>
            <a:ext cx="2638871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0"/>
          <p:cNvSpPr/>
          <p:nvPr/>
        </p:nvSpPr>
        <p:spPr>
          <a:xfrm>
            <a:off x="3210371" y="3633787"/>
            <a:ext cx="1458813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/>
          <p:nvPr/>
        </p:nvSpPr>
        <p:spPr>
          <a:xfrm>
            <a:off x="4669184" y="3633787"/>
            <a:ext cx="137293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6042124" y="3633787"/>
            <a:ext cx="1952327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7994451" y="3633787"/>
            <a:ext cx="187716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9871620" y="3633787"/>
            <a:ext cx="174887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0"/>
          <p:cNvSpPr/>
          <p:nvPr/>
        </p:nvSpPr>
        <p:spPr>
          <a:xfrm>
            <a:off x="571500" y="4024312"/>
            <a:ext cx="2638871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3210371" y="4024312"/>
            <a:ext cx="1458813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4669184" y="4024312"/>
            <a:ext cx="137293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6042124" y="4024312"/>
            <a:ext cx="1952327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7994451" y="4024312"/>
            <a:ext cx="187716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9871620" y="4024312"/>
            <a:ext cx="174887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71500" y="4414837"/>
            <a:ext cx="2638871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3210371" y="4414837"/>
            <a:ext cx="1458813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4669184" y="4414837"/>
            <a:ext cx="137293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042124" y="4414837"/>
            <a:ext cx="1952327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7994451" y="4414837"/>
            <a:ext cx="187716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9871620" y="4414837"/>
            <a:ext cx="174887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571500" y="4805362"/>
            <a:ext cx="2638871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3210371" y="4805362"/>
            <a:ext cx="1458813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4669184" y="4805362"/>
            <a:ext cx="137293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6042124" y="4805362"/>
            <a:ext cx="1952327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7994451" y="4805362"/>
            <a:ext cx="187716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/>
          <p:nvPr/>
        </p:nvSpPr>
        <p:spPr>
          <a:xfrm>
            <a:off x="9871620" y="4805362"/>
            <a:ext cx="1748879" cy="9525"/>
          </a:xfrm>
          <a:prstGeom prst="rect">
            <a:avLst/>
          </a:prstGeom>
          <a:solidFill>
            <a:srgbClr val="E6E9E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2" name="Google Shape;25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43070" y="4171950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43070" y="3781425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43070" y="3390900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43070" y="4562475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43070" y="3390900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43070" y="3781425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43070" y="4171950"/>
            <a:ext cx="12382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43070" y="4562475"/>
            <a:ext cx="12382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0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DÉMONSTRATION — FONCTIONNALITÉS CLÉS</a:t>
            </a:r>
            <a:endParaRPr/>
          </a:p>
        </p:txBody>
      </p:sp>
      <p:sp>
        <p:nvSpPr>
          <p:cNvPr id="261" name="Google Shape;261;p20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6" name="Google Shape;26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38412"/>
            <a:ext cx="5334000" cy="2590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8" name="Google Shape;26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538412"/>
            <a:ext cx="5334000" cy="2590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1"/>
          <p:cNvSpPr txBox="1"/>
          <p:nvPr/>
        </p:nvSpPr>
        <p:spPr>
          <a:xfrm>
            <a:off x="866775" y="28336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Choix Typographiques</a:t>
            </a:r>
            <a:endParaRPr/>
          </a:p>
        </p:txBody>
      </p:sp>
      <p:sp>
        <p:nvSpPr>
          <p:cNvPr id="270" name="Google Shape;270;p21"/>
          <p:cNvSpPr/>
          <p:nvPr/>
        </p:nvSpPr>
        <p:spPr>
          <a:xfrm>
            <a:off x="866775" y="31480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 txBox="1"/>
          <p:nvPr/>
        </p:nvSpPr>
        <p:spPr>
          <a:xfrm>
            <a:off x="866775" y="3300412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Afin de traduire l'élégance et la modernité, deux polices majeures ont été structurées :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6581775" y="2833687"/>
            <a:ext cx="4980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Palette Chromatique Premium</a:t>
            </a:r>
            <a:endParaRPr/>
          </a:p>
        </p:txBody>
      </p:sp>
      <p:sp>
        <p:nvSpPr>
          <p:cNvPr id="273" name="Google Shape;273;p21"/>
          <p:cNvSpPr/>
          <p:nvPr/>
        </p:nvSpPr>
        <p:spPr>
          <a:xfrm>
            <a:off x="6581775" y="3148012"/>
            <a:ext cx="474345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 txBox="1"/>
          <p:nvPr/>
        </p:nvSpPr>
        <p:spPr>
          <a:xfrm>
            <a:off x="828675" y="38433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866775" y="38433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Playfair Display : Serif élégant pour les titres — évoque le prestige et le savoir-faire artisanal.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828675" y="4338637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7" name="Google Shape;277;p21"/>
          <p:cNvSpPr txBox="1"/>
          <p:nvPr/>
        </p:nvSpPr>
        <p:spPr>
          <a:xfrm>
            <a:off x="866775" y="4338637"/>
            <a:ext cx="4743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DM Sans : Sans-serif moderne et lisible pour le corps du texte et les interfaces.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78" name="Google Shape;278;p21"/>
          <p:cNvSpPr txBox="1"/>
          <p:nvPr/>
        </p:nvSpPr>
        <p:spPr>
          <a:xfrm>
            <a:off x="6543675" y="33004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79" name="Google Shape;279;p21"/>
          <p:cNvSpPr txBox="1"/>
          <p:nvPr/>
        </p:nvSpPr>
        <p:spPr>
          <a:xfrm>
            <a:off x="6581775" y="330041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Vert Foncé (#1a2617) : Nature, authenticité et ancrage traditionnel tunisien.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0" name="Google Shape;280;p21"/>
          <p:cNvSpPr txBox="1"/>
          <p:nvPr/>
        </p:nvSpPr>
        <p:spPr>
          <a:xfrm>
            <a:off x="6543675" y="362426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81" name="Google Shape;281;p21"/>
          <p:cNvSpPr txBox="1"/>
          <p:nvPr/>
        </p:nvSpPr>
        <p:spPr>
          <a:xfrm>
            <a:off x="6581775" y="362426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Or (#d4af37) : Prestige, qualité et lumière de Tunisie.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2" name="Google Shape;282;p21"/>
          <p:cNvSpPr txBox="1"/>
          <p:nvPr/>
        </p:nvSpPr>
        <p:spPr>
          <a:xfrm>
            <a:off x="6543675" y="3948112"/>
            <a:ext cx="381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endParaRPr/>
          </a:p>
        </p:txBody>
      </p:sp>
      <p:sp>
        <p:nvSpPr>
          <p:cNvPr id="283" name="Google Shape;283;p21"/>
          <p:cNvSpPr txBox="1"/>
          <p:nvPr/>
        </p:nvSpPr>
        <p:spPr>
          <a:xfrm>
            <a:off x="6581775" y="3948112"/>
            <a:ext cx="47434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Beige Crème (#f7f5f0) : Clarté, pureté et douceur.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84" name="Google Shape;284;p21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IDENTITÉ VISUELLE DE L'INTERFACE</a:t>
            </a:r>
            <a:endParaRPr/>
          </a:p>
        </p:txBody>
      </p:sp>
      <p:sp>
        <p:nvSpPr>
          <p:cNvPr id="285" name="Google Shape;285;p21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0" name="Google Shape;29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2"/>
          <p:cNvSpPr txBox="1"/>
          <p:nvPr/>
        </p:nvSpPr>
        <p:spPr>
          <a:xfrm>
            <a:off x="571500" y="571500"/>
            <a:ext cx="56007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LA PLATEFORME E-COMMERCE</a:t>
            </a:r>
            <a:endParaRPr/>
          </a:p>
        </p:txBody>
      </p:sp>
      <p:sp>
        <p:nvSpPr>
          <p:cNvPr id="292" name="Google Shape;292;p22"/>
          <p:cNvSpPr/>
          <p:nvPr/>
        </p:nvSpPr>
        <p:spPr>
          <a:xfrm>
            <a:off x="571500" y="1076325"/>
            <a:ext cx="5334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93" name="Google Shape;29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0"/>
            <a:ext cx="59055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2"/>
          <p:cNvSpPr txBox="1"/>
          <p:nvPr/>
        </p:nvSpPr>
        <p:spPr>
          <a:xfrm>
            <a:off x="571500" y="1381125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Expérience Client Complète</a:t>
            </a:r>
            <a:endParaRPr/>
          </a:p>
        </p:txBody>
      </p:sp>
      <p:sp>
        <p:nvSpPr>
          <p:cNvPr id="295" name="Google Shape;295;p22"/>
          <p:cNvSpPr txBox="1"/>
          <p:nvPr/>
        </p:nvSpPr>
        <p:spPr>
          <a:xfrm>
            <a:off x="571500" y="1752600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Une plateforme e-commerce fullstack pensée pour valoriser le produit et convertir le visiteur :</a:t>
            </a:r>
            <a:endParaRPr/>
          </a:p>
        </p:txBody>
      </p:sp>
      <p:sp>
        <p:nvSpPr>
          <p:cNvPr id="296" name="Google Shape;296;p22"/>
          <p:cNvSpPr txBox="1"/>
          <p:nvPr/>
        </p:nvSpPr>
        <p:spPr>
          <a:xfrm>
            <a:off x="571500" y="2295525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Catalogue Produits : 4 références (500ml, 750ml, 1L, 3L) avec fiches techniques et certifications bio.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97" name="Google Shape;297;p22"/>
          <p:cNvSpPr txBox="1"/>
          <p:nvPr/>
        </p:nvSpPr>
        <p:spPr>
          <a:xfrm>
            <a:off x="571500" y="2838450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Panier &amp; Commande : Parcours fluide invité ou connecté, récapitulatif détaillé et confirmation email automatique.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298" name="Google Shape;298;p22"/>
          <p:cNvSpPr txBox="1"/>
          <p:nvPr/>
        </p:nvSpPr>
        <p:spPr>
          <a:xfrm>
            <a:off x="571500" y="3381375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Espace Admin : Dashboard de pilotage, gestion des statuts (en attente → préparation → expédié → livré).</a:t>
            </a: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3" name="Google Shape;30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4500" y="2309812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3"/>
          <p:cNvSpPr txBox="1"/>
          <p:nvPr/>
        </p:nvSpPr>
        <p:spPr>
          <a:xfrm>
            <a:off x="6286500" y="2443162"/>
            <a:ext cx="56007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Parcours de Personnalisation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6286500" y="2814637"/>
            <a:ext cx="53340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Un flux structuré et ergonomique en 5 étapes fluides :</a:t>
            </a:r>
            <a:endParaRPr/>
          </a:p>
        </p:txBody>
      </p:sp>
      <p:sp>
        <p:nvSpPr>
          <p:cNvPr id="307" name="Google Shape;307;p23"/>
          <p:cNvSpPr txBox="1"/>
          <p:nvPr/>
        </p:nvSpPr>
        <p:spPr>
          <a:xfrm>
            <a:off x="6286500" y="4681537"/>
            <a:ext cx="533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Demande de Devis : Calcul dynamique et envoi automatique par email via Nodemailer Gmail SMTP.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pic>
        <p:nvPicPr>
          <p:cNvPr descr="image.png" id="308" name="Google Shape;308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52600" y="2347912"/>
            <a:ext cx="29718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3"/>
          <p:cNvSpPr txBox="1"/>
          <p:nvPr/>
        </p:nvSpPr>
        <p:spPr>
          <a:xfrm>
            <a:off x="6400800" y="3157537"/>
            <a:ext cx="762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1.</a:t>
            </a:r>
            <a:endParaRPr/>
          </a:p>
        </p:txBody>
      </p:sp>
      <p:sp>
        <p:nvSpPr>
          <p:cNvPr id="310" name="Google Shape;310;p23"/>
          <p:cNvSpPr txBox="1"/>
          <p:nvPr/>
        </p:nvSpPr>
        <p:spPr>
          <a:xfrm>
            <a:off x="6477000" y="315753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Choix du Modèle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Cylindrique, carré, bidon métallique ou bio.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6372225" y="3452812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2.</a:t>
            </a:r>
            <a:endParaRPr/>
          </a:p>
        </p:txBody>
      </p:sp>
      <p:sp>
        <p:nvSpPr>
          <p:cNvPr id="312" name="Google Shape;312;p23"/>
          <p:cNvSpPr txBox="1"/>
          <p:nvPr/>
        </p:nvSpPr>
        <p:spPr>
          <a:xfrm>
            <a:off x="6477000" y="3452812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Sélection du Volume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500 ml, 750 ml, 1 L ou 3 L.</a:t>
            </a:r>
            <a:endParaRPr/>
          </a:p>
        </p:txBody>
      </p:sp>
      <p:sp>
        <p:nvSpPr>
          <p:cNvPr id="313" name="Google Shape;313;p23"/>
          <p:cNvSpPr txBox="1"/>
          <p:nvPr/>
        </p:nvSpPr>
        <p:spPr>
          <a:xfrm>
            <a:off x="6372225" y="3748087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3.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6477000" y="374808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Style d'Étiquette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Classique, Moderne, Édition Prestige Or.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6362700" y="4043362"/>
            <a:ext cx="1143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4.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6477000" y="4043362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Sélection de l'Emballage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Coffret tiroir, boîte magnétique ou bois.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6372225" y="4338637"/>
            <a:ext cx="10477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5.</a:t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6477000" y="4338637"/>
            <a:ext cx="51435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Message Personnalisé :</a:t>
            </a:r>
            <a:r>
              <a:rPr b="0" i="0" lang="en-US" sz="105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 Gravure d'une dédicace sur-mesure.</a:t>
            </a:r>
            <a:endParaRPr/>
          </a:p>
        </p:txBody>
      </p:sp>
      <p:sp>
        <p:nvSpPr>
          <p:cNvPr id="319" name="Google Shape;319;p23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CONFIGURATEUR 3D INTERACTIF</a:t>
            </a:r>
            <a:endParaRPr/>
          </a:p>
        </p:txBody>
      </p:sp>
      <p:sp>
        <p:nvSpPr>
          <p:cNvPr id="320" name="Google Shape;320;p23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5" name="Google Shape;32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6" name="Google Shape;3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6400" y="3293268"/>
            <a:ext cx="8839200" cy="1528762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4"/>
          <p:cNvSpPr txBox="1"/>
          <p:nvPr/>
        </p:nvSpPr>
        <p:spPr>
          <a:xfrm>
            <a:off x="1410414" y="1569243"/>
            <a:ext cx="9371171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Merci pour votre Attention</a:t>
            </a:r>
            <a:endParaRPr/>
          </a:p>
        </p:txBody>
      </p:sp>
      <p:sp>
        <p:nvSpPr>
          <p:cNvPr id="328" name="Google Shape;328;p24"/>
          <p:cNvSpPr/>
          <p:nvPr/>
        </p:nvSpPr>
        <p:spPr>
          <a:xfrm>
            <a:off x="1633537" y="2436018"/>
            <a:ext cx="8924925" cy="2857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4"/>
          <p:cNvSpPr txBox="1"/>
          <p:nvPr/>
        </p:nvSpPr>
        <p:spPr>
          <a:xfrm>
            <a:off x="571500" y="2750343"/>
            <a:ext cx="110490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B533E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CONCEPTION ET DÉVELOPPEMENT D'UNE APPLICATION E-COMMERCE POUR DOMAINE FENDRI</a:t>
            </a:r>
            <a:endParaRPr/>
          </a:p>
        </p:txBody>
      </p:sp>
      <p:sp>
        <p:nvSpPr>
          <p:cNvPr id="330" name="Google Shape;330;p24"/>
          <p:cNvSpPr txBox="1"/>
          <p:nvPr/>
        </p:nvSpPr>
        <p:spPr>
          <a:xfrm>
            <a:off x="571500" y="5107781"/>
            <a:ext cx="11049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B533E"/>
                </a:solidFill>
                <a:latin typeface="Montserrat"/>
                <a:ea typeface="Montserrat"/>
                <a:cs typeface="Montserrat"/>
                <a:sym typeface="Montserrat"/>
              </a:rPr>
              <a:t>Yessmine Hsine | Licence en Informatique &amp; Multimédia | ISIM Sfax 2026</a:t>
            </a:r>
            <a:endParaRPr/>
          </a:p>
        </p:txBody>
      </p:sp>
      <p:sp>
        <p:nvSpPr>
          <p:cNvPr id="331" name="Google Shape;331;p24"/>
          <p:cNvSpPr txBox="1"/>
          <p:nvPr/>
        </p:nvSpPr>
        <p:spPr>
          <a:xfrm>
            <a:off x="2281237" y="3493293"/>
            <a:ext cx="38004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Bilan Technique</a:t>
            </a:r>
            <a:endParaRPr/>
          </a:p>
        </p:txBody>
      </p:sp>
      <p:sp>
        <p:nvSpPr>
          <p:cNvPr id="332" name="Google Shape;332;p24"/>
          <p:cNvSpPr/>
          <p:nvPr/>
        </p:nvSpPr>
        <p:spPr>
          <a:xfrm>
            <a:off x="2281237" y="3798093"/>
            <a:ext cx="361950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4"/>
          <p:cNvSpPr txBox="1"/>
          <p:nvPr/>
        </p:nvSpPr>
        <p:spPr>
          <a:xfrm>
            <a:off x="2281237" y="3921918"/>
            <a:ext cx="3619500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Application e-commerce fullstack opérationnelle.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  <p:sp>
        <p:nvSpPr>
          <p:cNvPr id="334" name="Google Shape;334;p24"/>
          <p:cNvSpPr txBox="1"/>
          <p:nvPr/>
        </p:nvSpPr>
        <p:spPr>
          <a:xfrm>
            <a:off x="6710362" y="3493293"/>
            <a:ext cx="336042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B533E"/>
                </a:solidFill>
                <a:latin typeface="Cinzel"/>
                <a:ea typeface="Cinzel"/>
                <a:cs typeface="Cinzel"/>
                <a:sym typeface="Cinzel"/>
              </a:rPr>
              <a:t>Perspectives</a:t>
            </a:r>
            <a:endParaRPr/>
          </a:p>
        </p:txBody>
      </p:sp>
      <p:sp>
        <p:nvSpPr>
          <p:cNvPr id="335" name="Google Shape;335;p24"/>
          <p:cNvSpPr/>
          <p:nvPr/>
        </p:nvSpPr>
        <p:spPr>
          <a:xfrm>
            <a:off x="6710362" y="3798093"/>
            <a:ext cx="3200400" cy="9525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4"/>
          <p:cNvSpPr txBox="1"/>
          <p:nvPr/>
        </p:nvSpPr>
        <p:spPr>
          <a:xfrm>
            <a:off x="6710362" y="3921918"/>
            <a:ext cx="3200400" cy="557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• Intégration paiement Konnect &amp; Stripe réel.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DFBF7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1" name="Google Shape;34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5"/>
          <p:cNvSpPr/>
          <p:nvPr/>
        </p:nvSpPr>
        <p:spPr>
          <a:xfrm>
            <a:off x="614362" y="2295525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614362" y="3067050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/>
          <p:nvPr/>
        </p:nvSpPr>
        <p:spPr>
          <a:xfrm>
            <a:off x="614362" y="3838575"/>
            <a:ext cx="10963275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5"/>
          <p:cNvSpPr/>
          <p:nvPr/>
        </p:nvSpPr>
        <p:spPr>
          <a:xfrm>
            <a:off x="614362" y="305752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5"/>
          <p:cNvSpPr/>
          <p:nvPr/>
        </p:nvSpPr>
        <p:spPr>
          <a:xfrm>
            <a:off x="614362" y="305752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5"/>
          <p:cNvSpPr/>
          <p:nvPr/>
        </p:nvSpPr>
        <p:spPr>
          <a:xfrm>
            <a:off x="614362" y="3829050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5"/>
          <p:cNvSpPr/>
          <p:nvPr/>
        </p:nvSpPr>
        <p:spPr>
          <a:xfrm>
            <a:off x="614362" y="3829050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5"/>
          <p:cNvSpPr/>
          <p:nvPr/>
        </p:nvSpPr>
        <p:spPr>
          <a:xfrm>
            <a:off x="614362" y="460057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614362" y="4600575"/>
            <a:ext cx="10963275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51" name="Google Shape;35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4362" y="24384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5"/>
          <p:cNvSpPr txBox="1"/>
          <p:nvPr/>
        </p:nvSpPr>
        <p:spPr>
          <a:xfrm>
            <a:off x="1709737" y="2445543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https://www.lagourmetbox.com/media/catalog/product/cache/bbb32a7131474ce6dbca563d43ee405c/l/a/la_olive_box_800x800.jpg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1709737" y="2678906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www.lagourmetbox.com</a:t>
            </a:r>
            <a:endParaRPr/>
          </a:p>
        </p:txBody>
      </p:sp>
      <p:pic>
        <p:nvPicPr>
          <p:cNvPr descr="image.png" id="354" name="Google Shape;354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4362" y="320992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5"/>
          <p:cNvSpPr txBox="1"/>
          <p:nvPr/>
        </p:nvSpPr>
        <p:spPr>
          <a:xfrm>
            <a:off x="1709737" y="3217068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https://p.turbosquid.com/ts-thumb/Mt/AuKFpd/Ot/wireframe/png/1669028741/1920x1080/fit_q87/4709d38b6c09d494c612cc47b30abd14c3a78cd6/wireframe.jpg</a:t>
            </a:r>
            <a:endParaRPr/>
          </a:p>
        </p:txBody>
      </p:sp>
      <p:sp>
        <p:nvSpPr>
          <p:cNvPr id="356" name="Google Shape;356;p25"/>
          <p:cNvSpPr txBox="1"/>
          <p:nvPr/>
        </p:nvSpPr>
        <p:spPr>
          <a:xfrm>
            <a:off x="1709737" y="3450431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www.turbosquid.com</a:t>
            </a:r>
            <a:endParaRPr/>
          </a:p>
        </p:txBody>
      </p:sp>
      <p:pic>
        <p:nvPicPr>
          <p:cNvPr descr="image.png" id="357" name="Google Shape;357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4362" y="398145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5"/>
          <p:cNvSpPr txBox="1"/>
          <p:nvPr/>
        </p:nvSpPr>
        <p:spPr>
          <a:xfrm>
            <a:off x="1709737" y="3988593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https://worldbranddesign.com/wp-content/uploads/2020/10/01_Vassae_WBD.jpg</a:t>
            </a:r>
            <a:endParaRPr/>
          </a:p>
        </p:txBody>
      </p:sp>
      <p:sp>
        <p:nvSpPr>
          <p:cNvPr id="359" name="Google Shape;359;p25"/>
          <p:cNvSpPr txBox="1"/>
          <p:nvPr/>
        </p:nvSpPr>
        <p:spPr>
          <a:xfrm>
            <a:off x="1709737" y="4221956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worldbranddesign.com</a:t>
            </a:r>
            <a:endParaRPr/>
          </a:p>
        </p:txBody>
      </p:sp>
      <p:pic>
        <p:nvPicPr>
          <p:cNvPr descr="image.png" id="360" name="Google Shape;360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4362" y="475297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5"/>
          <p:cNvSpPr txBox="1"/>
          <p:nvPr/>
        </p:nvSpPr>
        <p:spPr>
          <a:xfrm>
            <a:off x="1709737" y="4760118"/>
            <a:ext cx="9867900" cy="185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https://www.holyoliveoil.com.au/cdn/shop/files/930213A7-383E-4B93-9441-BDA7735E2AD7.png?v=1755567329&amp;width=3840</a:t>
            </a:r>
            <a:endParaRPr/>
          </a:p>
        </p:txBody>
      </p:sp>
      <p:sp>
        <p:nvSpPr>
          <p:cNvPr id="362" name="Google Shape;362;p25"/>
          <p:cNvSpPr txBox="1"/>
          <p:nvPr/>
        </p:nvSpPr>
        <p:spPr>
          <a:xfrm>
            <a:off x="1709737" y="4993481"/>
            <a:ext cx="9867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531"/>
                </a:solidFill>
                <a:latin typeface="Montserrat"/>
                <a:ea typeface="Montserrat"/>
                <a:cs typeface="Montserrat"/>
                <a:sym typeface="Montserra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Montserrat"/>
                <a:ea typeface="Montserrat"/>
                <a:cs typeface="Montserrat"/>
                <a:sym typeface="Montserrat"/>
              </a:rPr>
              <a:t>www.holyoliveoil.com.au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571500" y="47625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E2E1F"/>
                </a:solidFill>
                <a:latin typeface="Cinzel"/>
                <a:ea typeface="Cinzel"/>
                <a:cs typeface="Cinzel"/>
                <a:sym typeface="Cinzel"/>
              </a:rPr>
              <a:t>IMAGE SOURCES</a:t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571500" y="981075"/>
            <a:ext cx="11049000" cy="19050"/>
          </a:xfrm>
          <a:prstGeom prst="rect">
            <a:avLst/>
          </a:prstGeom>
          <a:solidFill>
            <a:srgbClr val="C59B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
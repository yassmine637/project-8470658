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6858000" cx="12192000"/>
  <p:notesSz cx="6858000" cy="9144000"/>
  <p:embeddedFontLst>
    <p:embeddedFont>
      <p:font typeface="Raleway"/>
      <p:regular r:id="rId20"/>
      <p:bold r:id="rId21"/>
      <p:italic r:id="rId22"/>
      <p:boldItalic r:id="rId23"/>
    </p:embeddedFont>
    <p:embeddedFont>
      <p:font typeface="Lato"/>
      <p:regular r:id="rId24"/>
      <p:bold r:id="rId25"/>
      <p:italic r:id="rId26"/>
      <p:boldItalic r:id="rId27"/>
    </p:embeddedFont>
    <p:embeddedFont>
      <p:font typeface="Montserrat"/>
      <p:regular r:id="rId28"/>
      <p:bold r:id="rId29"/>
      <p:italic r:id="rId30"/>
      <p:boldItalic r:id="rId31"/>
    </p:embeddedFont>
    <p:embeddedFont>
      <p:font typeface="Montserrat Medium"/>
      <p:regular r:id="rId32"/>
      <p:bold r:id="rId33"/>
      <p:italic r:id="rId34"/>
      <p:boldItalic r:id="rId35"/>
    </p:embeddedFont>
    <p:embeddedFont>
      <p:font typeface="Cinzel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1D2862B-52F9-4485-B6A9-9AC04C1CC2F1}">
  <a:tblStyle styleId="{A1D2862B-52F9-4485-B6A9-9AC04C1CC2F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font" Target="fonts/Raleway-regular.fntdata"/><Relationship Id="rId21" Type="http://schemas.openxmlformats.org/officeDocument/2006/relationships/font" Target="fonts/Raleway-bold.fntdata"/><Relationship Id="rId22" Type="http://schemas.openxmlformats.org/officeDocument/2006/relationships/font" Target="fonts/Raleway-italic.fntdata"/><Relationship Id="rId23" Type="http://schemas.openxmlformats.org/officeDocument/2006/relationships/font" Target="fonts/Raleway-boldItalic.fntdata"/><Relationship Id="rId24" Type="http://schemas.openxmlformats.org/officeDocument/2006/relationships/font" Target="fonts/Lato-regular.fntdata"/><Relationship Id="rId25" Type="http://schemas.openxmlformats.org/officeDocument/2006/relationships/font" Target="fonts/Lato-bold.fntdata"/><Relationship Id="rId26" Type="http://schemas.openxmlformats.org/officeDocument/2006/relationships/font" Target="fonts/Lato-italic.fntdata"/><Relationship Id="rId27" Type="http://schemas.openxmlformats.org/officeDocument/2006/relationships/font" Target="fonts/Lato-boldItalic.fntdata"/><Relationship Id="rId28" Type="http://schemas.openxmlformats.org/officeDocument/2006/relationships/font" Target="fonts/Montserrat-regular.fntdata"/><Relationship Id="rId29" Type="http://schemas.openxmlformats.org/officeDocument/2006/relationships/font" Target="fonts/Montserrat-bold.fntdata"/><Relationship Id="rId30" Type="http://schemas.openxmlformats.org/officeDocument/2006/relationships/font" Target="fonts/Montserrat-italic.fntdata"/><Relationship Id="rId31" Type="http://schemas.openxmlformats.org/officeDocument/2006/relationships/font" Target="fonts/Montserrat-boldItalic.fntdata"/><Relationship Id="rId32" Type="http://schemas.openxmlformats.org/officeDocument/2006/relationships/font" Target="fonts/MontserratMedium-regular.fntdata"/><Relationship Id="rId33" Type="http://schemas.openxmlformats.org/officeDocument/2006/relationships/font" Target="fonts/MontserratMedium-bold.fntdata"/><Relationship Id="rId34" Type="http://schemas.openxmlformats.org/officeDocument/2006/relationships/font" Target="fonts/MontserratMedium-italic.fntdata"/><Relationship Id="rId35" Type="http://schemas.openxmlformats.org/officeDocument/2006/relationships/font" Target="fonts/MontserratMedium-boldItalic.fntdata"/><Relationship Id="rId36" Type="http://schemas.openxmlformats.org/officeDocument/2006/relationships/font" Target="fonts/Cinzel-regular.fntdata"/><Relationship Id="rId37" Type="http://schemas.openxmlformats.org/officeDocument/2006/relationships/font" Target="fonts/Cinzel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972600" y="1763267"/>
            <a:ext cx="10250700" cy="2219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972837" y="4230533"/>
            <a:ext cx="10250700" cy="721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972600" y="1763267"/>
            <a:ext cx="10251300" cy="202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972600" y="1758200"/>
            <a:ext cx="10251600" cy="713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972600" y="2771833"/>
            <a:ext cx="10251600" cy="301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972600" y="1758200"/>
            <a:ext cx="10251300" cy="713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972434" y="2771833"/>
            <a:ext cx="5032500" cy="301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6191471" y="2771833"/>
            <a:ext cx="5032500" cy="301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972600" y="1758200"/>
            <a:ext cx="10251300" cy="713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973333" y="1758200"/>
            <a:ext cx="4401300" cy="1842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961633" y="3708967"/>
            <a:ext cx="4401300" cy="2130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1107036" y="5558926"/>
            <a:ext cx="994316" cy="61102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972600" y="1152400"/>
            <a:ext cx="9361500" cy="39801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973333" y="1758200"/>
            <a:ext cx="4401300" cy="2249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966600" y="4215367"/>
            <a:ext cx="4401300" cy="1011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6898967" y="1803500"/>
            <a:ext cx="4499100" cy="40341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966600" y="5830068"/>
            <a:ext cx="10263300" cy="6141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1107036" y="5558926"/>
            <a:ext cx="994316" cy="61102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972600" y="978600"/>
            <a:ext cx="10251300" cy="1659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972600" y="3030517"/>
            <a:ext cx="10251300" cy="210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>
                <a:solidFill>
                  <a:schemeClr val="lt1"/>
                </a:solidFill>
              </a:defRPr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>
                <a:solidFill>
                  <a:schemeClr val="lt1"/>
                </a:solidFill>
              </a:defRPr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>
                <a:solidFill>
                  <a:schemeClr val="lt1"/>
                </a:solidFill>
              </a:defRPr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>
                <a:solidFill>
                  <a:schemeClr val="lt1"/>
                </a:solidFill>
              </a:defRPr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>
                <a:solidFill>
                  <a:schemeClr val="lt1"/>
                </a:solidFill>
              </a:defRPr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>
                <a:solidFill>
                  <a:schemeClr val="lt1"/>
                </a:solidFill>
              </a:defRPr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>
                <a:solidFill>
                  <a:schemeClr val="lt1"/>
                </a:solidFill>
              </a:defRPr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>
                <a:solidFill>
                  <a:schemeClr val="lt1"/>
                </a:solidFill>
              </a:defRPr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Lato"/>
              <a:buChar char="●"/>
              <a:defRPr sz="17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238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○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238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■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238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●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238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○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238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■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238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●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238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○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238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■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mc:AlternateContent>
    <mc:Choice Requires="p14">
      <p:transition spd="slow" p14:dur="1800">
        <p:fade thruBlk="1"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20.png"/><Relationship Id="rId5" Type="http://schemas.openxmlformats.org/officeDocument/2006/relationships/image" Target="../media/image6.png"/><Relationship Id="rId6" Type="http://schemas.openxmlformats.org/officeDocument/2006/relationships/image" Target="../media/image22.png"/><Relationship Id="rId7" Type="http://schemas.openxmlformats.org/officeDocument/2006/relationships/image" Target="../media/image4.png"/><Relationship Id="rId8" Type="http://schemas.openxmlformats.org/officeDocument/2006/relationships/image" Target="../media/image13.png"/><Relationship Id="rId9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18.png"/><Relationship Id="rId6" Type="http://schemas.openxmlformats.org/officeDocument/2006/relationships/image" Target="../media/image12.png"/><Relationship Id="rId7" Type="http://schemas.openxmlformats.org/officeDocument/2006/relationships/image" Target="../media/image3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25.png"/><Relationship Id="rId5" Type="http://schemas.openxmlformats.org/officeDocument/2006/relationships/image" Target="../media/image31.png"/><Relationship Id="rId6" Type="http://schemas.openxmlformats.org/officeDocument/2006/relationships/image" Target="../media/image23.png"/><Relationship Id="rId7" Type="http://schemas.openxmlformats.org/officeDocument/2006/relationships/image" Target="../media/image16.png"/><Relationship Id="rId8" Type="http://schemas.openxmlformats.org/officeDocument/2006/relationships/image" Target="../media/image3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21.png"/><Relationship Id="rId5" Type="http://schemas.openxmlformats.org/officeDocument/2006/relationships/image" Target="../media/image17.png"/><Relationship Id="rId6" Type="http://schemas.openxmlformats.org/officeDocument/2006/relationships/image" Target="../media/image3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3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29.png"/><Relationship Id="rId5" Type="http://schemas.openxmlformats.org/officeDocument/2006/relationships/image" Target="../media/image24.png"/><Relationship Id="rId6" Type="http://schemas.openxmlformats.org/officeDocument/2006/relationships/image" Target="../media/image3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Relationship Id="rId4" Type="http://schemas.openxmlformats.org/officeDocument/2006/relationships/image" Target="../media/image35.png"/><Relationship Id="rId5" Type="http://schemas.openxmlformats.org/officeDocument/2006/relationships/image" Target="../media/image32.png"/><Relationship Id="rId6" Type="http://schemas.openxmlformats.org/officeDocument/2006/relationships/image" Target="../media/image36.png"/><Relationship Id="rId7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E1F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6" name="Google Shape;86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7" name="Google Shape;87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096196"/>
            <a:ext cx="11049000" cy="1166812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3"/>
          <p:cNvSpPr txBox="1"/>
          <p:nvPr/>
        </p:nvSpPr>
        <p:spPr>
          <a:xfrm>
            <a:off x="571500" y="1785491"/>
            <a:ext cx="110490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59B2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PROJET DE FIN D'ÉTUDES • ISIM SFAX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1980485" y="2080766"/>
            <a:ext cx="8231028" cy="8057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FDFBF7"/>
                </a:solidFill>
                <a:latin typeface="Cinzel"/>
                <a:ea typeface="Cinzel"/>
                <a:cs typeface="Cinzel"/>
                <a:sym typeface="Cinzel"/>
              </a:rPr>
              <a:t>CONCEPTION ET DÉVELOPPEMENT D'UNE APPLICATION E-COMMERCE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550" u="none" cap="none" strike="noStrike">
                <a:solidFill>
                  <a:srgbClr val="FDFBF7"/>
                </a:solidFill>
                <a:latin typeface="Cinzel"/>
                <a:ea typeface="Cinzel"/>
                <a:cs typeface="Cinzel"/>
                <a:sym typeface="Cinzel"/>
              </a:rPr>
              <a:t/>
            </a:r>
            <a:endParaRPr/>
          </a:p>
        </p:txBody>
      </p:sp>
      <p:sp>
        <p:nvSpPr>
          <p:cNvPr id="90" name="Google Shape;90;p13"/>
          <p:cNvSpPr/>
          <p:nvPr/>
        </p:nvSpPr>
        <p:spPr>
          <a:xfrm>
            <a:off x="2176462" y="3000821"/>
            <a:ext cx="7839075" cy="2857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571500" y="3172271"/>
            <a:ext cx="110490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DFBF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PLATEFORME FULLSTACK TRILINGUE — REACT · NODE.JS · MONGODB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482601" y="4343846"/>
            <a:ext cx="373374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C59B27"/>
                </a:solidFill>
                <a:latin typeface="Cinzel"/>
                <a:ea typeface="Cinzel"/>
                <a:cs typeface="Cinzel"/>
                <a:sym typeface="Cinzel"/>
              </a:rPr>
              <a:t>PRÉSENTÉ PAR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571500" y="4562921"/>
            <a:ext cx="355595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12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FDFBF7"/>
                </a:solidFill>
                <a:latin typeface="Montserrat"/>
                <a:ea typeface="Montserrat"/>
                <a:cs typeface="Montserrat"/>
                <a:sym typeface="Montserrat"/>
              </a:rPr>
              <a:t>Yessmine Hsine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75" u="none" cap="none" strike="noStrike">
                <a:solidFill>
                  <a:srgbClr val="FDFBF7"/>
                </a:solidFill>
                <a:latin typeface="Montserrat"/>
                <a:ea typeface="Montserrat"/>
                <a:cs typeface="Montserrat"/>
                <a:sym typeface="Montserrat"/>
              </a:rPr>
              <a:t> Licence en Informatique &amp; Multimédia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4229051" y="4343846"/>
            <a:ext cx="373374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C59B27"/>
                </a:solidFill>
                <a:latin typeface="Cinzel"/>
                <a:ea typeface="Cinzel"/>
                <a:cs typeface="Cinzel"/>
                <a:sym typeface="Cinzel"/>
              </a:rPr>
              <a:t>ORGANISME D'ACCUEIL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4317950" y="4562921"/>
            <a:ext cx="355595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12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FDFBF7"/>
                </a:solidFill>
                <a:latin typeface="Montserrat"/>
                <a:ea typeface="Montserrat"/>
                <a:cs typeface="Montserrat"/>
                <a:sym typeface="Montserrat"/>
              </a:rPr>
              <a:t>Digilab Solutions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75" u="none" cap="none" strike="noStrike">
                <a:solidFill>
                  <a:srgbClr val="FDFBF7"/>
                </a:solidFill>
                <a:latin typeface="Montserrat"/>
                <a:ea typeface="Montserrat"/>
                <a:cs typeface="Montserrat"/>
                <a:sym typeface="Montserrat"/>
              </a:rPr>
              <a:t> Soutenu le 01/06/2026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7975498" y="4343846"/>
            <a:ext cx="373390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C59B27"/>
                </a:solidFill>
                <a:latin typeface="Cinzel"/>
                <a:ea typeface="Cinzel"/>
                <a:cs typeface="Cinzel"/>
                <a:sym typeface="Cinzel"/>
              </a:rPr>
              <a:t>MEMBRES DU JURY</a:t>
            </a:r>
            <a:endParaRPr/>
          </a:p>
        </p:txBody>
      </p:sp>
      <p:sp>
        <p:nvSpPr>
          <p:cNvPr id="97" name="Google Shape;97;p13"/>
          <p:cNvSpPr txBox="1"/>
          <p:nvPr/>
        </p:nvSpPr>
        <p:spPr>
          <a:xfrm>
            <a:off x="8064400" y="4562921"/>
            <a:ext cx="3556099" cy="557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12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FDFBF7"/>
                </a:solidFill>
                <a:latin typeface="Montserrat"/>
                <a:ea typeface="Montserrat"/>
                <a:cs typeface="Montserrat"/>
                <a:sym typeface="Montserrat"/>
              </a:rPr>
              <a:t>M. Kharrat Ahmed (Président)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75" u="none" cap="none" strike="noStrike">
                <a:solidFill>
                  <a:srgbClr val="FDFBF7"/>
                </a:solidFill>
                <a:latin typeface="Montserrat"/>
                <a:ea typeface="Montserrat"/>
                <a:cs typeface="Montserrat"/>
                <a:sym typeface="Montserrat"/>
              </a:rPr>
              <a:t> Mme Taktak Emna (Rapporteur)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75" u="none" cap="none" strike="noStrike">
                <a:solidFill>
                  <a:srgbClr val="FDFBF7"/>
                </a:solidFill>
                <a:latin typeface="Montserrat"/>
                <a:ea typeface="Montserrat"/>
                <a:cs typeface="Montserrat"/>
                <a:sym typeface="Montserrat"/>
              </a:rPr>
              <a:t> Mme Tagougui Najiba (Encadrante)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90812"/>
            <a:ext cx="5334000" cy="2286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2690812"/>
            <a:ext cx="533400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/>
          <p:nvPr/>
        </p:nvSpPr>
        <p:spPr>
          <a:xfrm>
            <a:off x="866775" y="2986087"/>
            <a:ext cx="4980622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L'Organisme d'Accueil</a:t>
            </a:r>
            <a:endParaRPr/>
          </a:p>
        </p:txBody>
      </p:sp>
      <p:sp>
        <p:nvSpPr>
          <p:cNvPr id="106" name="Google Shape;106;p14"/>
          <p:cNvSpPr/>
          <p:nvPr/>
        </p:nvSpPr>
        <p:spPr>
          <a:xfrm>
            <a:off x="866775" y="3300412"/>
            <a:ext cx="4743450" cy="952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866775" y="3452812"/>
            <a:ext cx="4743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Digilab Solutions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 est une agence de communication et de marketing digital de référence basée à l'Ariana, spécialisée dans :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6581775" y="2986087"/>
            <a:ext cx="4980622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Le Produit : Domaine FENDRI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6581775" y="3300412"/>
            <a:ext cx="4743450" cy="952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6581775" y="3452812"/>
            <a:ext cx="47434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Un fleuron de l'oléiculture biologique tunisienne fondé en 1911 à Sfax :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828675" y="3995737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866775" y="3995737"/>
            <a:ext cx="47434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Le développement de solutions e-commerce et d'applications web métier.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828675" y="4291012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114" name="Google Shape;114;p14"/>
          <p:cNvSpPr txBox="1"/>
          <p:nvPr/>
        </p:nvSpPr>
        <p:spPr>
          <a:xfrm>
            <a:off x="866775" y="4291012"/>
            <a:ext cx="47434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L'accompagnement sur-mesure dans la transformation digitale des entreprises.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6543675" y="3795712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6581775" y="3795712"/>
            <a:ext cx="47434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Leader mondial de l'huile biologique monovariétale (Chetoui).</a:t>
            </a:r>
            <a:endParaRPr/>
          </a:p>
        </p:txBody>
      </p:sp>
      <p:sp>
        <p:nvSpPr>
          <p:cNvPr id="117" name="Google Shape;117;p14"/>
          <p:cNvSpPr txBox="1"/>
          <p:nvPr/>
        </p:nvSpPr>
        <p:spPr>
          <a:xfrm>
            <a:off x="6543675" y="4090987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6581775" y="4090987"/>
            <a:ext cx="47434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Reconnu à l'international pour son excellence et sa pureté.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6543675" y="4386262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6581775" y="4386262"/>
            <a:ext cx="47434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Besoin de valoriser ce patrimoine par une plateforme e-commerce digitale moderne.</a:t>
            </a:r>
            <a:endParaRPr/>
          </a:p>
        </p:txBody>
      </p:sp>
      <p:sp>
        <p:nvSpPr>
          <p:cNvPr id="121" name="Google Shape;121;p14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CADRE &amp; CONTEXTE DU PROJET</a:t>
            </a:r>
            <a:endParaRPr/>
          </a:p>
        </p:txBody>
      </p:sp>
      <p:sp>
        <p:nvSpPr>
          <p:cNvPr id="122" name="Google Shape;122;p14"/>
          <p:cNvSpPr/>
          <p:nvPr/>
        </p:nvSpPr>
        <p:spPr>
          <a:xfrm>
            <a:off x="571500" y="981075"/>
            <a:ext cx="11049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7" name="Google Shape;12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2166937"/>
            <a:ext cx="5334000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5"/>
          <p:cNvSpPr txBox="1"/>
          <p:nvPr/>
        </p:nvSpPr>
        <p:spPr>
          <a:xfrm>
            <a:off x="571500" y="2166937"/>
            <a:ext cx="56007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Les Limites de l'Existant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571500" y="2538412"/>
            <a:ext cx="533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Domaine Fendri, malgré 113 ans d'expertise et des distinctions internationales, ne dispose d'aucune présence e-commerce :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857250" y="3081337"/>
            <a:ext cx="50482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Absence e-commerce : Aucune boutique en ligne, ventes limitées au marché local tunisien.</a:t>
            </a:r>
            <a:r>
              <a:rPr b="0" i="0" lang="en-US" sz="112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857250" y="3652837"/>
            <a:ext cx="50482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Concurrence internationale : Les producteurs espagnols et italiens sont déjà bien positionnés en ligne.</a:t>
            </a:r>
            <a:r>
              <a:rPr b="0" i="0" lang="en-US" sz="112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857250" y="4224337"/>
            <a:ext cx="50482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Barrière linguistique : Aucune interface multilingue pour atteindre les marchés européens et arabophones.</a:t>
            </a:r>
            <a:r>
              <a:rPr b="0" i="0" lang="en-US" sz="112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pic>
        <p:nvPicPr>
          <p:cNvPr descr="image.png" id="134" name="Google Shape;134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96025" y="2176462"/>
            <a:ext cx="5314950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5" name="Google Shape;135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105150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6" name="Google Shape;136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676650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7" name="Google Shape;137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248150"/>
            <a:ext cx="1714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5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PROBLÉMATIQUE &amp; CONSTAT</a:t>
            </a:r>
            <a:endParaRPr/>
          </a:p>
        </p:txBody>
      </p:sp>
      <p:sp>
        <p:nvSpPr>
          <p:cNvPr id="139" name="Google Shape;139;p15"/>
          <p:cNvSpPr/>
          <p:nvPr/>
        </p:nvSpPr>
        <p:spPr>
          <a:xfrm>
            <a:off x="571500" y="981075"/>
            <a:ext cx="11049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4" name="Google Shape;14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5" name="Google Shape;145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747962"/>
            <a:ext cx="3555950" cy="2171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6" name="Google Shape;146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17950" y="2747962"/>
            <a:ext cx="3555950" cy="2171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7" name="Google Shape;147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64400" y="2747962"/>
            <a:ext cx="3555950" cy="217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6"/>
          <p:cNvSpPr txBox="1"/>
          <p:nvPr/>
        </p:nvSpPr>
        <p:spPr>
          <a:xfrm>
            <a:off x="819150" y="3557587"/>
            <a:ext cx="321368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Catalogue E-Commerce Interactif</a:t>
            </a:r>
            <a:endParaRPr/>
          </a:p>
        </p:txBody>
      </p:sp>
      <p:sp>
        <p:nvSpPr>
          <p:cNvPr id="149" name="Google Shape;149;p16"/>
          <p:cNvSpPr txBox="1"/>
          <p:nvPr/>
        </p:nvSpPr>
        <p:spPr>
          <a:xfrm>
            <a:off x="819150" y="3929062"/>
            <a:ext cx="30606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Fiches produits complètes, panier d'achat, gestion des commandes et suivi en temps réel.</a:t>
            </a:r>
            <a:endParaRPr/>
          </a:p>
        </p:txBody>
      </p:sp>
      <p:sp>
        <p:nvSpPr>
          <p:cNvPr id="150" name="Google Shape;150;p16"/>
          <p:cNvSpPr txBox="1"/>
          <p:nvPr/>
        </p:nvSpPr>
        <p:spPr>
          <a:xfrm>
            <a:off x="4565600" y="3557587"/>
            <a:ext cx="321368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Site Trilingue FR · AR · EN</a:t>
            </a:r>
            <a:endParaRPr/>
          </a:p>
        </p:txBody>
      </p:sp>
      <p:sp>
        <p:nvSpPr>
          <p:cNvPr id="151" name="Google Shape;151;p16"/>
          <p:cNvSpPr txBox="1"/>
          <p:nvPr/>
        </p:nvSpPr>
        <p:spPr>
          <a:xfrm>
            <a:off x="4565600" y="3929062"/>
            <a:ext cx="30606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Interface multilingue avec support RTL arabe et switch de langue instantané sur toutes les pages.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8312050" y="3557587"/>
            <a:ext cx="321368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Panel Admin &amp; Automatisation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8312050" y="3929062"/>
            <a:ext cx="30606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Tableau de bord administrateur complet et emails automatiques via Nodemailer Gmail SMTP.</a:t>
            </a:r>
            <a:endParaRPr/>
          </a:p>
        </p:txBody>
      </p:sp>
      <p:pic>
        <p:nvPicPr>
          <p:cNvPr descr="image.png" id="154" name="Google Shape;154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19150" y="3033712"/>
            <a:ext cx="3905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5" name="Google Shape;155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565600" y="3033712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12050" y="3033712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6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LA SOLUTION : APPLICATION E-COMMERCE FULLSTACK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571500" y="981075"/>
            <a:ext cx="11049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3" name="Google Shape;163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4" name="Google Shape;16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262437"/>
            <a:ext cx="2541240" cy="1676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5" name="Google Shape;165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07419" y="2166937"/>
            <a:ext cx="2541240" cy="1619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6" name="Google Shape;166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43339" y="4262437"/>
            <a:ext cx="2541240" cy="1619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7" name="Google Shape;167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79259" y="2166937"/>
            <a:ext cx="2541240" cy="1619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/>
          <p:nvPr/>
        </p:nvSpPr>
        <p:spPr>
          <a:xfrm>
            <a:off x="571500" y="4005262"/>
            <a:ext cx="11049000" cy="2857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 txBox="1"/>
          <p:nvPr/>
        </p:nvSpPr>
        <p:spPr>
          <a:xfrm>
            <a:off x="667988" y="4414837"/>
            <a:ext cx="2348262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Sprint 1 : Architecture &amp; Base de Données</a:t>
            </a:r>
            <a:endParaRPr/>
          </a:p>
        </p:txBody>
      </p:sp>
      <p:sp>
        <p:nvSpPr>
          <p:cNvPr id="170" name="Google Shape;170;p17"/>
          <p:cNvSpPr txBox="1"/>
          <p:nvPr/>
        </p:nvSpPr>
        <p:spPr>
          <a:xfrm>
            <a:off x="723900" y="5043487"/>
            <a:ext cx="223644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Mise en place de l'API REST Express, MongoDB Atlas, modèles Mongoose et authentification JWT.</a:t>
            </a:r>
            <a:endParaRPr/>
          </a:p>
        </p:txBody>
      </p:sp>
      <p:sp>
        <p:nvSpPr>
          <p:cNvPr id="171" name="Google Shape;171;p17"/>
          <p:cNvSpPr txBox="1"/>
          <p:nvPr/>
        </p:nvSpPr>
        <p:spPr>
          <a:xfrm>
            <a:off x="3503908" y="2319337"/>
            <a:ext cx="234826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Sprint 2 : Interface &amp; Navigation</a:t>
            </a:r>
            <a:endParaRPr/>
          </a:p>
        </p:txBody>
      </p:sp>
      <p:sp>
        <p:nvSpPr>
          <p:cNvPr id="172" name="Google Shape;172;p17"/>
          <p:cNvSpPr txBox="1"/>
          <p:nvPr/>
        </p:nvSpPr>
        <p:spPr>
          <a:xfrm>
            <a:off x="3559819" y="2690812"/>
            <a:ext cx="223644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Développement React 19 + TailwindCSS, routing, composants UI et intégration i18next trilingue.</a:t>
            </a:r>
            <a:endParaRPr/>
          </a:p>
        </p:txBody>
      </p:sp>
      <p:sp>
        <p:nvSpPr>
          <p:cNvPr id="173" name="Google Shape;173;p17"/>
          <p:cNvSpPr txBox="1"/>
          <p:nvPr/>
        </p:nvSpPr>
        <p:spPr>
          <a:xfrm>
            <a:off x="6339828" y="4414837"/>
            <a:ext cx="234826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Sprint 3 : Fonctionnalités Métier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6395739" y="4786312"/>
            <a:ext cx="223644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Catalogue, configurateur de bouteilles, panier, commandes, chatbot et emails automatiques.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9175748" y="2319337"/>
            <a:ext cx="234826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Sprint 4 : Admin &amp; Optimisation</a:t>
            </a:r>
            <a:endParaRPr/>
          </a:p>
        </p:txBody>
      </p:sp>
      <p:sp>
        <p:nvSpPr>
          <p:cNvPr id="176" name="Google Shape;176;p17"/>
          <p:cNvSpPr txBox="1"/>
          <p:nvPr/>
        </p:nvSpPr>
        <p:spPr>
          <a:xfrm>
            <a:off x="9231659" y="2690812"/>
            <a:ext cx="223644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Panel admin complet, gestion statuts commandes, responsive mobile et audit accessibilité.</a:t>
            </a:r>
            <a:endParaRPr/>
          </a:p>
        </p:txBody>
      </p:sp>
      <p:sp>
        <p:nvSpPr>
          <p:cNvPr id="177" name="Google Shape;177;p17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MÉTHODOLOGIE AGILE SCRUM ADOPTÉE</a:t>
            </a:r>
            <a:endParaRPr/>
          </a:p>
        </p:txBody>
      </p:sp>
      <p:sp>
        <p:nvSpPr>
          <p:cNvPr id="178" name="Google Shape;178;p17"/>
          <p:cNvSpPr/>
          <p:nvPr/>
        </p:nvSpPr>
        <p:spPr>
          <a:xfrm>
            <a:off x="571500" y="981075"/>
            <a:ext cx="11049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7"/>
          <p:cNvSpPr/>
          <p:nvPr/>
        </p:nvSpPr>
        <p:spPr>
          <a:xfrm>
            <a:off x="1756395" y="3938587"/>
            <a:ext cx="171450" cy="171450"/>
          </a:xfrm>
          <a:prstGeom prst="roundRect">
            <a:avLst>
              <a:gd fmla="val 50000" name="adj"/>
            </a:avLst>
          </a:prstGeom>
          <a:solidFill>
            <a:srgbClr val="FDFBF7"/>
          </a:solidFill>
          <a:ln cap="flat" cmpd="sng" w="38100">
            <a:solidFill>
              <a:srgbClr val="1E2E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7"/>
          <p:cNvSpPr/>
          <p:nvPr/>
        </p:nvSpPr>
        <p:spPr>
          <a:xfrm>
            <a:off x="4592315" y="3938587"/>
            <a:ext cx="171450" cy="171450"/>
          </a:xfrm>
          <a:prstGeom prst="roundRect">
            <a:avLst>
              <a:gd fmla="val 50000" name="adj"/>
            </a:avLst>
          </a:prstGeom>
          <a:solidFill>
            <a:srgbClr val="FDFBF7"/>
          </a:solidFill>
          <a:ln cap="flat" cmpd="sng" w="38100">
            <a:solidFill>
              <a:srgbClr val="1E2E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7"/>
          <p:cNvSpPr/>
          <p:nvPr/>
        </p:nvSpPr>
        <p:spPr>
          <a:xfrm>
            <a:off x="7428234" y="3938587"/>
            <a:ext cx="171450" cy="171450"/>
          </a:xfrm>
          <a:prstGeom prst="roundRect">
            <a:avLst>
              <a:gd fmla="val 50000" name="adj"/>
            </a:avLst>
          </a:prstGeom>
          <a:solidFill>
            <a:srgbClr val="FDFBF7"/>
          </a:solidFill>
          <a:ln cap="flat" cmpd="sng" w="38100">
            <a:solidFill>
              <a:srgbClr val="1E2E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7"/>
          <p:cNvSpPr/>
          <p:nvPr/>
        </p:nvSpPr>
        <p:spPr>
          <a:xfrm>
            <a:off x="10264154" y="3938587"/>
            <a:ext cx="171450" cy="171450"/>
          </a:xfrm>
          <a:prstGeom prst="roundRect">
            <a:avLst>
              <a:gd fmla="val 50000" name="adj"/>
            </a:avLst>
          </a:prstGeom>
          <a:solidFill>
            <a:srgbClr val="FDFBF7"/>
          </a:solidFill>
          <a:ln cap="flat" cmpd="sng" w="38100">
            <a:solidFill>
              <a:srgbClr val="1E2E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7" name="Google Shape;18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8" name="Google Shape;188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490787"/>
            <a:ext cx="5334000" cy="2686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9" name="Google Shape;189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2490787"/>
            <a:ext cx="5334000" cy="268605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8"/>
          <p:cNvSpPr txBox="1"/>
          <p:nvPr/>
        </p:nvSpPr>
        <p:spPr>
          <a:xfrm>
            <a:off x="866775" y="2786062"/>
            <a:ext cx="4980622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Matrice des Risques Clés</a:t>
            </a:r>
            <a:endParaRPr/>
          </a:p>
        </p:txBody>
      </p:sp>
      <p:sp>
        <p:nvSpPr>
          <p:cNvPr id="191" name="Google Shape;191;p18"/>
          <p:cNvSpPr/>
          <p:nvPr/>
        </p:nvSpPr>
        <p:spPr>
          <a:xfrm>
            <a:off x="866775" y="3100387"/>
            <a:ext cx="4743450" cy="952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 txBox="1"/>
          <p:nvPr/>
        </p:nvSpPr>
        <p:spPr>
          <a:xfrm>
            <a:off x="866775" y="3252787"/>
            <a:ext cx="4743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R1: Internationalisation arabe (RTL)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193" name="Google Shape;193;p18"/>
          <p:cNvSpPr txBox="1"/>
          <p:nvPr/>
        </p:nvSpPr>
        <p:spPr>
          <a:xfrm>
            <a:off x="866775" y="3795712"/>
            <a:ext cx="4743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R2: Emails automatiques en production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194" name="Google Shape;194;p18"/>
          <p:cNvSpPr txBox="1"/>
          <p:nvPr/>
        </p:nvSpPr>
        <p:spPr>
          <a:xfrm>
            <a:off x="866775" y="4338637"/>
            <a:ext cx="4743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R3: Responsive mobile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195" name="Google Shape;195;p18"/>
          <p:cNvSpPr txBox="1"/>
          <p:nvPr/>
        </p:nvSpPr>
        <p:spPr>
          <a:xfrm>
            <a:off x="6581775" y="2786062"/>
            <a:ext cx="4980622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Ressources Déployées</a:t>
            </a:r>
            <a:endParaRPr/>
          </a:p>
        </p:txBody>
      </p:sp>
      <p:sp>
        <p:nvSpPr>
          <p:cNvPr id="196" name="Google Shape;196;p18"/>
          <p:cNvSpPr/>
          <p:nvPr/>
        </p:nvSpPr>
        <p:spPr>
          <a:xfrm>
            <a:off x="6581775" y="3100387"/>
            <a:ext cx="4743450" cy="952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 txBox="1"/>
          <p:nvPr/>
        </p:nvSpPr>
        <p:spPr>
          <a:xfrm>
            <a:off x="6581775" y="3252787"/>
            <a:ext cx="47434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Ressources Humaines :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 Yessmine Hsine (Développement complet), M. Hassen Laabidi (Encadrement pro), Mme Najiba Tagougui (Encadrement académique).</a:t>
            </a:r>
            <a:endParaRPr/>
          </a:p>
        </p:txBody>
      </p:sp>
      <p:sp>
        <p:nvSpPr>
          <p:cNvPr id="198" name="Google Shape;198;p18"/>
          <p:cNvSpPr txBox="1"/>
          <p:nvPr/>
        </p:nvSpPr>
        <p:spPr>
          <a:xfrm>
            <a:off x="6581775" y="3995737"/>
            <a:ext cx="4743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Ressources Techniques : React 19, TypeScript, TailwindCSS, Node.js, Express, MongoDB Atlas, Nodemailer.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199" name="Google Shape;199;p18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ANALYSE DES RISQUES &amp; RESSOURCES</a:t>
            </a:r>
            <a:endParaRPr/>
          </a:p>
        </p:txBody>
      </p:sp>
      <p:sp>
        <p:nvSpPr>
          <p:cNvPr id="200" name="Google Shape;200;p18"/>
          <p:cNvSpPr/>
          <p:nvPr/>
        </p:nvSpPr>
        <p:spPr>
          <a:xfrm>
            <a:off x="571500" y="981075"/>
            <a:ext cx="11049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5" name="Google Shape;20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595788" y="4305300"/>
            <a:ext cx="538067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Couche Présentation (Frontend)</a:t>
            </a:r>
            <a:endParaRPr/>
          </a:p>
        </p:txBody>
      </p:sp>
      <p:sp>
        <p:nvSpPr>
          <p:cNvPr id="209" name="Google Shape;209;p19"/>
          <p:cNvSpPr txBox="1"/>
          <p:nvPr/>
        </p:nvSpPr>
        <p:spPr>
          <a:xfrm>
            <a:off x="723900" y="4676775"/>
            <a:ext cx="5124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React 19 + Vite + TypeScript · TailwindCSS · i18next (FR/AR/EN) · React Router — interface responsive et multilingue.</a:t>
            </a:r>
            <a:endParaRPr/>
          </a:p>
        </p:txBody>
      </p:sp>
      <p:sp>
        <p:nvSpPr>
          <p:cNvPr id="210" name="Google Shape;210;p19"/>
          <p:cNvSpPr txBox="1"/>
          <p:nvPr/>
        </p:nvSpPr>
        <p:spPr>
          <a:xfrm>
            <a:off x="6215538" y="4305300"/>
            <a:ext cx="538067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Couche Logique (Backend)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6343650" y="4676775"/>
            <a:ext cx="5124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Node.js + Express · JWT + bcrypt · Nodemailer Gmail SMTP · Helmet + Rate-limiting — API REST sécurisée.</a:t>
            </a:r>
            <a:endParaRPr/>
          </a:p>
        </p:txBody>
      </p:sp>
      <p:sp>
        <p:nvSpPr>
          <p:cNvPr id="214" name="Google Shape;214;p19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ARCHITECTURE TECHNIQUE — 3 COUCHES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571500" y="981075"/>
            <a:ext cx="11049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6" name="Picture 215" descr="image_177963042879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" y="1508760"/>
            <a:ext cx="11183112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0" name="Google Shape;22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0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DÉMONSTRATION — FONCTIONNALITÉS CLÉS</a:t>
            </a:r>
            <a:endParaRPr/>
          </a:p>
        </p:txBody>
      </p:sp>
      <p:pic>
        <p:nvPicPr>
          <p:cNvPr id="261" name="Picture 260" descr="image_177963068166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1463040"/>
            <a:ext cx="1118311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6" name="Google Shape;26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7" name="Google Shape;26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538412"/>
            <a:ext cx="5334000" cy="2590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8" name="Google Shape;268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2538412"/>
            <a:ext cx="5334000" cy="2590800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21"/>
          <p:cNvSpPr txBox="1"/>
          <p:nvPr/>
        </p:nvSpPr>
        <p:spPr>
          <a:xfrm>
            <a:off x="866775" y="2833687"/>
            <a:ext cx="4980622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Choix Typographiques</a:t>
            </a:r>
            <a:endParaRPr/>
          </a:p>
        </p:txBody>
      </p:sp>
      <p:sp>
        <p:nvSpPr>
          <p:cNvPr id="270" name="Google Shape;270;p21"/>
          <p:cNvSpPr/>
          <p:nvPr/>
        </p:nvSpPr>
        <p:spPr>
          <a:xfrm>
            <a:off x="866775" y="3148012"/>
            <a:ext cx="4743450" cy="952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1"/>
          <p:cNvSpPr txBox="1"/>
          <p:nvPr/>
        </p:nvSpPr>
        <p:spPr>
          <a:xfrm>
            <a:off x="866775" y="3300412"/>
            <a:ext cx="4743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Afin de traduire l'élégance et la modernité, deux polices majeures ont été structurées :</a:t>
            </a:r>
            <a:endParaRPr/>
          </a:p>
        </p:txBody>
      </p:sp>
      <p:sp>
        <p:nvSpPr>
          <p:cNvPr id="272" name="Google Shape;272;p21"/>
          <p:cNvSpPr txBox="1"/>
          <p:nvPr/>
        </p:nvSpPr>
        <p:spPr>
          <a:xfrm>
            <a:off x="6581775" y="2833687"/>
            <a:ext cx="4980622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Palette Chromatique Premium</a:t>
            </a:r>
            <a:endParaRPr/>
          </a:p>
        </p:txBody>
      </p:sp>
      <p:sp>
        <p:nvSpPr>
          <p:cNvPr id="273" name="Google Shape;273;p21"/>
          <p:cNvSpPr/>
          <p:nvPr/>
        </p:nvSpPr>
        <p:spPr>
          <a:xfrm>
            <a:off x="6581775" y="3148012"/>
            <a:ext cx="4743450" cy="952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1"/>
          <p:cNvSpPr txBox="1"/>
          <p:nvPr/>
        </p:nvSpPr>
        <p:spPr>
          <a:xfrm>
            <a:off x="828675" y="3843337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275" name="Google Shape;275;p21"/>
          <p:cNvSpPr txBox="1"/>
          <p:nvPr/>
        </p:nvSpPr>
        <p:spPr>
          <a:xfrm>
            <a:off x="866775" y="3843337"/>
            <a:ext cx="4743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Playfair Display : Serif élégant pour les titres — évoque le prestige et le savoir-faire artisanal.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276" name="Google Shape;276;p21"/>
          <p:cNvSpPr txBox="1"/>
          <p:nvPr/>
        </p:nvSpPr>
        <p:spPr>
          <a:xfrm>
            <a:off x="828675" y="4338637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277" name="Google Shape;277;p21"/>
          <p:cNvSpPr txBox="1"/>
          <p:nvPr/>
        </p:nvSpPr>
        <p:spPr>
          <a:xfrm>
            <a:off x="866775" y="4338637"/>
            <a:ext cx="4743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DM Sans : Sans-serif moderne et lisible pour le corps du texte et les interfaces.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278" name="Google Shape;278;p21"/>
          <p:cNvSpPr txBox="1"/>
          <p:nvPr/>
        </p:nvSpPr>
        <p:spPr>
          <a:xfrm>
            <a:off x="6543675" y="3300412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279" name="Google Shape;279;p21"/>
          <p:cNvSpPr txBox="1"/>
          <p:nvPr/>
        </p:nvSpPr>
        <p:spPr>
          <a:xfrm>
            <a:off x="6581775" y="3300412"/>
            <a:ext cx="47434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Vert Foncé (#1a2617) : Nature, authenticité et ancrage traditionnel tunisien.</a:t>
            </a: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280" name="Google Shape;280;p21"/>
          <p:cNvSpPr txBox="1"/>
          <p:nvPr/>
        </p:nvSpPr>
        <p:spPr>
          <a:xfrm>
            <a:off x="6543675" y="3624262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281" name="Google Shape;281;p21"/>
          <p:cNvSpPr txBox="1"/>
          <p:nvPr/>
        </p:nvSpPr>
        <p:spPr>
          <a:xfrm>
            <a:off x="6581775" y="3624262"/>
            <a:ext cx="47434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Or (#d4af37) : Prestige, qualité et lumière de Tunisie.</a:t>
            </a: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282" name="Google Shape;282;p21"/>
          <p:cNvSpPr txBox="1"/>
          <p:nvPr/>
        </p:nvSpPr>
        <p:spPr>
          <a:xfrm>
            <a:off x="6543675" y="3948112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283" name="Google Shape;283;p21"/>
          <p:cNvSpPr txBox="1"/>
          <p:nvPr/>
        </p:nvSpPr>
        <p:spPr>
          <a:xfrm>
            <a:off x="6581775" y="3948112"/>
            <a:ext cx="47434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Beige Crème (#f7f5f0) : Clarté, pureté et douceur.</a:t>
            </a: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284" name="Google Shape;284;p21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IDENTITÉ VISUELLE DE L'INTERFACE</a:t>
            </a:r>
            <a:endParaRPr/>
          </a:p>
        </p:txBody>
      </p:sp>
      <p:sp>
        <p:nvSpPr>
          <p:cNvPr id="285" name="Google Shape;285;p21"/>
          <p:cNvSpPr/>
          <p:nvPr/>
        </p:nvSpPr>
        <p:spPr>
          <a:xfrm>
            <a:off x="571500" y="981075"/>
            <a:ext cx="11049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0" name="Google Shape;29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22"/>
          <p:cNvSpPr txBox="1"/>
          <p:nvPr/>
        </p:nvSpPr>
        <p:spPr>
          <a:xfrm>
            <a:off x="571500" y="571500"/>
            <a:ext cx="56007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LA PLATEFORME E-COMMERCE</a:t>
            </a:r>
            <a:endParaRPr/>
          </a:p>
        </p:txBody>
      </p:sp>
      <p:sp>
        <p:nvSpPr>
          <p:cNvPr id="292" name="Google Shape;292;p22"/>
          <p:cNvSpPr/>
          <p:nvPr/>
        </p:nvSpPr>
        <p:spPr>
          <a:xfrm>
            <a:off x="571500" y="1076325"/>
            <a:ext cx="5334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93" name="Google Shape;293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0"/>
            <a:ext cx="59055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22"/>
          <p:cNvSpPr txBox="1"/>
          <p:nvPr/>
        </p:nvSpPr>
        <p:spPr>
          <a:xfrm>
            <a:off x="571500" y="1381125"/>
            <a:ext cx="56007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Expérience Client Complète</a:t>
            </a:r>
            <a:endParaRPr/>
          </a:p>
        </p:txBody>
      </p:sp>
      <p:sp>
        <p:nvSpPr>
          <p:cNvPr id="295" name="Google Shape;295;p22"/>
          <p:cNvSpPr txBox="1"/>
          <p:nvPr/>
        </p:nvSpPr>
        <p:spPr>
          <a:xfrm>
            <a:off x="571500" y="1752600"/>
            <a:ext cx="533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Une plateforme e-commerce fullstack pensée pour valoriser le produit et convertir le visiteur :</a:t>
            </a:r>
            <a:endParaRPr/>
          </a:p>
        </p:txBody>
      </p:sp>
      <p:sp>
        <p:nvSpPr>
          <p:cNvPr id="296" name="Google Shape;296;p22"/>
          <p:cNvSpPr txBox="1"/>
          <p:nvPr/>
        </p:nvSpPr>
        <p:spPr>
          <a:xfrm>
            <a:off x="571500" y="2295525"/>
            <a:ext cx="533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 Catalogue Produits : 4 références (500ml, 750ml, 1L, 3L) avec fiches techniques et certifications bio.</a:t>
            </a: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297" name="Google Shape;297;p22"/>
          <p:cNvSpPr txBox="1"/>
          <p:nvPr/>
        </p:nvSpPr>
        <p:spPr>
          <a:xfrm>
            <a:off x="571500" y="2838450"/>
            <a:ext cx="533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 Panier &amp; Commande : Parcours fluide invité ou connecté, récapitulatif détaillé et confirmation email automatique.</a:t>
            </a: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298" name="Google Shape;298;p22"/>
          <p:cNvSpPr txBox="1"/>
          <p:nvPr/>
        </p:nvSpPr>
        <p:spPr>
          <a:xfrm>
            <a:off x="571500" y="3381375"/>
            <a:ext cx="533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 Espace Admin : Dashboard de pilotage, gestion des statuts (en attente → préparation → expédié → livré).</a:t>
            </a: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3" name="Google Shape;303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23"/>
          <p:cNvSpPr txBox="1"/>
          <p:nvPr/>
        </p:nvSpPr>
        <p:spPr>
          <a:xfrm>
            <a:off x="6286500" y="2443162"/>
            <a:ext cx="56007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Parcours de Personnalisation</a:t>
            </a:r>
            <a:endParaRPr/>
          </a:p>
        </p:txBody>
      </p:sp>
      <p:sp>
        <p:nvSpPr>
          <p:cNvPr id="306" name="Google Shape;306;p23"/>
          <p:cNvSpPr txBox="1"/>
          <p:nvPr/>
        </p:nvSpPr>
        <p:spPr>
          <a:xfrm>
            <a:off x="6286500" y="2814637"/>
            <a:ext cx="53340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Un flux structuré et ergonomique en 5 étapes fluides :</a:t>
            </a:r>
            <a:endParaRPr/>
          </a:p>
        </p:txBody>
      </p:sp>
      <p:sp>
        <p:nvSpPr>
          <p:cNvPr id="307" name="Google Shape;307;p23"/>
          <p:cNvSpPr txBox="1"/>
          <p:nvPr/>
        </p:nvSpPr>
        <p:spPr>
          <a:xfrm>
            <a:off x="6286500" y="4681537"/>
            <a:ext cx="533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Demande de Devis : Calcul dynamique et envoi automatique par email via Nodemailer Gmail SMTP.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309" name="Google Shape;309;p23"/>
          <p:cNvSpPr txBox="1"/>
          <p:nvPr/>
        </p:nvSpPr>
        <p:spPr>
          <a:xfrm>
            <a:off x="6400800" y="3157537"/>
            <a:ext cx="762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1.</a:t>
            </a:r>
            <a:endParaRPr/>
          </a:p>
        </p:txBody>
      </p:sp>
      <p:sp>
        <p:nvSpPr>
          <p:cNvPr id="310" name="Google Shape;310;p23"/>
          <p:cNvSpPr txBox="1"/>
          <p:nvPr/>
        </p:nvSpPr>
        <p:spPr>
          <a:xfrm>
            <a:off x="6477000" y="3157537"/>
            <a:ext cx="51435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Choix du Modèle :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 Cylindrique, carré, bidon métallique ou bio.</a:t>
            </a:r>
            <a:endParaRPr/>
          </a:p>
        </p:txBody>
      </p:sp>
      <p:sp>
        <p:nvSpPr>
          <p:cNvPr id="311" name="Google Shape;311;p23"/>
          <p:cNvSpPr txBox="1"/>
          <p:nvPr/>
        </p:nvSpPr>
        <p:spPr>
          <a:xfrm>
            <a:off x="6372225" y="3452812"/>
            <a:ext cx="1047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2.</a:t>
            </a:r>
            <a:endParaRPr/>
          </a:p>
        </p:txBody>
      </p:sp>
      <p:sp>
        <p:nvSpPr>
          <p:cNvPr id="312" name="Google Shape;312;p23"/>
          <p:cNvSpPr txBox="1"/>
          <p:nvPr/>
        </p:nvSpPr>
        <p:spPr>
          <a:xfrm>
            <a:off x="6477000" y="3452812"/>
            <a:ext cx="51435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Sélection du Volume :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 500 ml, 750 ml, 1 L ou 3 L.</a:t>
            </a:r>
            <a:endParaRPr/>
          </a:p>
        </p:txBody>
      </p:sp>
      <p:sp>
        <p:nvSpPr>
          <p:cNvPr id="313" name="Google Shape;313;p23"/>
          <p:cNvSpPr txBox="1"/>
          <p:nvPr/>
        </p:nvSpPr>
        <p:spPr>
          <a:xfrm>
            <a:off x="6372225" y="3748087"/>
            <a:ext cx="1047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3.</a:t>
            </a:r>
            <a:endParaRPr/>
          </a:p>
        </p:txBody>
      </p:sp>
      <p:sp>
        <p:nvSpPr>
          <p:cNvPr id="314" name="Google Shape;314;p23"/>
          <p:cNvSpPr txBox="1"/>
          <p:nvPr/>
        </p:nvSpPr>
        <p:spPr>
          <a:xfrm>
            <a:off x="6477000" y="3748087"/>
            <a:ext cx="51435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Style d'Étiquette :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 Classique, Moderne, Édition Prestige Or.</a:t>
            </a:r>
            <a:endParaRPr/>
          </a:p>
        </p:txBody>
      </p:sp>
      <p:sp>
        <p:nvSpPr>
          <p:cNvPr id="315" name="Google Shape;315;p23"/>
          <p:cNvSpPr txBox="1"/>
          <p:nvPr/>
        </p:nvSpPr>
        <p:spPr>
          <a:xfrm>
            <a:off x="6362700" y="4043362"/>
            <a:ext cx="1143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4.</a:t>
            </a:r>
            <a:endParaRPr/>
          </a:p>
        </p:txBody>
      </p:sp>
      <p:sp>
        <p:nvSpPr>
          <p:cNvPr id="316" name="Google Shape;316;p23"/>
          <p:cNvSpPr txBox="1"/>
          <p:nvPr/>
        </p:nvSpPr>
        <p:spPr>
          <a:xfrm>
            <a:off x="6477000" y="4043362"/>
            <a:ext cx="51435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Sélection de l'Emballage :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 Coffret tiroir, boîte magnétique ou bois.</a:t>
            </a:r>
            <a:endParaRPr/>
          </a:p>
        </p:txBody>
      </p:sp>
      <p:sp>
        <p:nvSpPr>
          <p:cNvPr id="317" name="Google Shape;317;p23"/>
          <p:cNvSpPr txBox="1"/>
          <p:nvPr/>
        </p:nvSpPr>
        <p:spPr>
          <a:xfrm>
            <a:off x="6372225" y="4338637"/>
            <a:ext cx="1047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5.</a:t>
            </a:r>
            <a:endParaRPr/>
          </a:p>
        </p:txBody>
      </p:sp>
      <p:sp>
        <p:nvSpPr>
          <p:cNvPr id="318" name="Google Shape;318;p23"/>
          <p:cNvSpPr txBox="1"/>
          <p:nvPr/>
        </p:nvSpPr>
        <p:spPr>
          <a:xfrm>
            <a:off x="6477000" y="4338637"/>
            <a:ext cx="51435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Message Personnalisé :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 Gravure d'une dédicace sur-mesure.</a:t>
            </a:r>
            <a:endParaRPr/>
          </a:p>
        </p:txBody>
      </p:sp>
      <p:sp>
        <p:nvSpPr>
          <p:cNvPr id="319" name="Google Shape;319;p23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CONFIGURATEUR 3D INTERACTIF</a:t>
            </a:r>
            <a:endParaRPr/>
          </a:p>
        </p:txBody>
      </p:sp>
      <p:sp>
        <p:nvSpPr>
          <p:cNvPr id="320" name="Google Shape;320;p23"/>
          <p:cNvSpPr/>
          <p:nvPr/>
        </p:nvSpPr>
        <p:spPr>
          <a:xfrm>
            <a:off x="571500" y="981075"/>
            <a:ext cx="11049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1" name="Picture 320" descr="image_177963040840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1508760"/>
            <a:ext cx="11183112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5" name="Google Shape;325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6" name="Google Shape;3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6400" y="3293268"/>
            <a:ext cx="8839200" cy="1528762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24"/>
          <p:cNvSpPr txBox="1"/>
          <p:nvPr/>
        </p:nvSpPr>
        <p:spPr>
          <a:xfrm>
            <a:off x="1410414" y="1569243"/>
            <a:ext cx="9371171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5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Merci pour votre Attention</a:t>
            </a:r>
            <a:endParaRPr/>
          </a:p>
        </p:txBody>
      </p:sp>
      <p:sp>
        <p:nvSpPr>
          <p:cNvPr id="328" name="Google Shape;328;p24"/>
          <p:cNvSpPr/>
          <p:nvPr/>
        </p:nvSpPr>
        <p:spPr>
          <a:xfrm>
            <a:off x="1633537" y="2436018"/>
            <a:ext cx="8924925" cy="2857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4"/>
          <p:cNvSpPr txBox="1"/>
          <p:nvPr/>
        </p:nvSpPr>
        <p:spPr>
          <a:xfrm>
            <a:off x="571500" y="2750343"/>
            <a:ext cx="110490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B533E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CONCEPTION ET DÉVELOPPEMENT D'UNE APPLICATION E-COMMERCE POUR DOMAINE FENDRI</a:t>
            </a:r>
            <a:endParaRPr/>
          </a:p>
        </p:txBody>
      </p:sp>
      <p:sp>
        <p:nvSpPr>
          <p:cNvPr id="330" name="Google Shape;330;p24"/>
          <p:cNvSpPr txBox="1"/>
          <p:nvPr/>
        </p:nvSpPr>
        <p:spPr>
          <a:xfrm>
            <a:off x="571500" y="5107781"/>
            <a:ext cx="110490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B533E"/>
                </a:solidFill>
                <a:latin typeface="Montserrat"/>
                <a:ea typeface="Montserrat"/>
                <a:cs typeface="Montserrat"/>
                <a:sym typeface="Montserrat"/>
              </a:rPr>
              <a:t>Yessmine Hsine | Licence en Informatique &amp; Multimédia | ISIM Sfax 2026</a:t>
            </a:r>
            <a:endParaRPr/>
          </a:p>
        </p:txBody>
      </p:sp>
      <p:sp>
        <p:nvSpPr>
          <p:cNvPr id="331" name="Google Shape;331;p24"/>
          <p:cNvSpPr txBox="1"/>
          <p:nvPr/>
        </p:nvSpPr>
        <p:spPr>
          <a:xfrm>
            <a:off x="2281237" y="3493293"/>
            <a:ext cx="38004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Bilan Technique</a:t>
            </a:r>
            <a:endParaRPr/>
          </a:p>
        </p:txBody>
      </p:sp>
      <p:sp>
        <p:nvSpPr>
          <p:cNvPr id="332" name="Google Shape;332;p24"/>
          <p:cNvSpPr/>
          <p:nvPr/>
        </p:nvSpPr>
        <p:spPr>
          <a:xfrm>
            <a:off x="2281237" y="3798093"/>
            <a:ext cx="3619500" cy="952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4"/>
          <p:cNvSpPr txBox="1"/>
          <p:nvPr/>
        </p:nvSpPr>
        <p:spPr>
          <a:xfrm>
            <a:off x="2281237" y="3921918"/>
            <a:ext cx="3619500" cy="557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12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 Application e-commerce fullstack opérationnelle.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334" name="Google Shape;334;p24"/>
          <p:cNvSpPr txBox="1"/>
          <p:nvPr/>
        </p:nvSpPr>
        <p:spPr>
          <a:xfrm>
            <a:off x="6710362" y="3493293"/>
            <a:ext cx="336042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Perspectives</a:t>
            </a:r>
            <a:endParaRPr/>
          </a:p>
        </p:txBody>
      </p:sp>
      <p:sp>
        <p:nvSpPr>
          <p:cNvPr id="335" name="Google Shape;335;p24"/>
          <p:cNvSpPr/>
          <p:nvPr/>
        </p:nvSpPr>
        <p:spPr>
          <a:xfrm>
            <a:off x="6710362" y="3798093"/>
            <a:ext cx="3200400" cy="952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4"/>
          <p:cNvSpPr txBox="1"/>
          <p:nvPr/>
        </p:nvSpPr>
        <p:spPr>
          <a:xfrm>
            <a:off x="6710362" y="3921918"/>
            <a:ext cx="3200400" cy="557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12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 Intégration paiement Konnect &amp; Stripe réel.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1" name="Google Shape;34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25"/>
          <p:cNvSpPr/>
          <p:nvPr/>
        </p:nvSpPr>
        <p:spPr>
          <a:xfrm>
            <a:off x="614362" y="2295525"/>
            <a:ext cx="10963275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5"/>
          <p:cNvSpPr/>
          <p:nvPr/>
        </p:nvSpPr>
        <p:spPr>
          <a:xfrm>
            <a:off x="614362" y="3067050"/>
            <a:ext cx="10963275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5"/>
          <p:cNvSpPr/>
          <p:nvPr/>
        </p:nvSpPr>
        <p:spPr>
          <a:xfrm>
            <a:off x="614362" y="3838575"/>
            <a:ext cx="10963275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5"/>
          <p:cNvSpPr/>
          <p:nvPr/>
        </p:nvSpPr>
        <p:spPr>
          <a:xfrm>
            <a:off x="614362" y="3057525"/>
            <a:ext cx="1096327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5"/>
          <p:cNvSpPr/>
          <p:nvPr/>
        </p:nvSpPr>
        <p:spPr>
          <a:xfrm>
            <a:off x="614362" y="3057525"/>
            <a:ext cx="1096327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5"/>
          <p:cNvSpPr/>
          <p:nvPr/>
        </p:nvSpPr>
        <p:spPr>
          <a:xfrm>
            <a:off x="614362" y="3829050"/>
            <a:ext cx="1096327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5"/>
          <p:cNvSpPr/>
          <p:nvPr/>
        </p:nvSpPr>
        <p:spPr>
          <a:xfrm>
            <a:off x="614362" y="3829050"/>
            <a:ext cx="1096327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5"/>
          <p:cNvSpPr/>
          <p:nvPr/>
        </p:nvSpPr>
        <p:spPr>
          <a:xfrm>
            <a:off x="614362" y="4600575"/>
            <a:ext cx="1096327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5"/>
          <p:cNvSpPr/>
          <p:nvPr/>
        </p:nvSpPr>
        <p:spPr>
          <a:xfrm>
            <a:off x="614362" y="4600575"/>
            <a:ext cx="1096327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51" name="Google Shape;351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4362" y="243840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25"/>
          <p:cNvSpPr txBox="1"/>
          <p:nvPr/>
        </p:nvSpPr>
        <p:spPr>
          <a:xfrm>
            <a:off x="1709737" y="2445543"/>
            <a:ext cx="9867900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https://www.lagourmetbox.com/media/catalog/product/cache/bbb32a7131474ce6dbca563d43ee405c/l/a/la_olive_box_800x800.jpg</a:t>
            </a:r>
            <a:endParaRPr/>
          </a:p>
        </p:txBody>
      </p:sp>
      <p:sp>
        <p:nvSpPr>
          <p:cNvPr id="353" name="Google Shape;353;p25"/>
          <p:cNvSpPr txBox="1"/>
          <p:nvPr/>
        </p:nvSpPr>
        <p:spPr>
          <a:xfrm>
            <a:off x="1709737" y="2678906"/>
            <a:ext cx="9867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Montserrat"/>
                <a:ea typeface="Montserrat"/>
                <a:cs typeface="Montserrat"/>
                <a:sym typeface="Montserrat"/>
              </a:rPr>
              <a:t>www.lagourmetbox.com</a:t>
            </a:r>
            <a:endParaRPr/>
          </a:p>
        </p:txBody>
      </p:sp>
      <p:pic>
        <p:nvPicPr>
          <p:cNvPr descr="image.png" id="354" name="Google Shape;354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4362" y="320992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25"/>
          <p:cNvSpPr txBox="1"/>
          <p:nvPr/>
        </p:nvSpPr>
        <p:spPr>
          <a:xfrm>
            <a:off x="1709737" y="3217068"/>
            <a:ext cx="9867900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https://p.turbosquid.com/ts-thumb/Mt/AuKFpd/Ot/wireframe/png/1669028741/1920x1080/fit_q87/4709d38b6c09d494c612cc47b30abd14c3a78cd6/wireframe.jpg</a:t>
            </a:r>
            <a:endParaRPr/>
          </a:p>
        </p:txBody>
      </p:sp>
      <p:sp>
        <p:nvSpPr>
          <p:cNvPr id="356" name="Google Shape;356;p25"/>
          <p:cNvSpPr txBox="1"/>
          <p:nvPr/>
        </p:nvSpPr>
        <p:spPr>
          <a:xfrm>
            <a:off x="1709737" y="3450431"/>
            <a:ext cx="9867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Montserrat"/>
                <a:ea typeface="Montserrat"/>
                <a:cs typeface="Montserrat"/>
                <a:sym typeface="Montserrat"/>
              </a:rPr>
              <a:t>www.turbosquid.com</a:t>
            </a:r>
            <a:endParaRPr/>
          </a:p>
        </p:txBody>
      </p:sp>
      <p:pic>
        <p:nvPicPr>
          <p:cNvPr descr="image.png" id="357" name="Google Shape;357;p2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4362" y="398145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25"/>
          <p:cNvSpPr txBox="1"/>
          <p:nvPr/>
        </p:nvSpPr>
        <p:spPr>
          <a:xfrm>
            <a:off x="1709737" y="3988593"/>
            <a:ext cx="9867900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https://worldbranddesign.com/wp-content/uploads/2020/10/01_Vassae_WBD.jpg</a:t>
            </a:r>
            <a:endParaRPr/>
          </a:p>
        </p:txBody>
      </p:sp>
      <p:sp>
        <p:nvSpPr>
          <p:cNvPr id="359" name="Google Shape;359;p25"/>
          <p:cNvSpPr txBox="1"/>
          <p:nvPr/>
        </p:nvSpPr>
        <p:spPr>
          <a:xfrm>
            <a:off x="1709737" y="4221956"/>
            <a:ext cx="9867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Montserrat"/>
                <a:ea typeface="Montserrat"/>
                <a:cs typeface="Montserrat"/>
                <a:sym typeface="Montserrat"/>
              </a:rPr>
              <a:t>worldbranddesign.com</a:t>
            </a:r>
            <a:endParaRPr/>
          </a:p>
        </p:txBody>
      </p:sp>
      <p:pic>
        <p:nvPicPr>
          <p:cNvPr descr="image.png" id="360" name="Google Shape;360;p2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4362" y="475297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25"/>
          <p:cNvSpPr txBox="1"/>
          <p:nvPr/>
        </p:nvSpPr>
        <p:spPr>
          <a:xfrm>
            <a:off x="1709737" y="4760118"/>
            <a:ext cx="9867900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https://www.holyoliveoil.com.au/cdn/shop/files/930213A7-383E-4B93-9441-BDA7735E2AD7.png?v=1755567329&amp;width=3840</a:t>
            </a:r>
            <a:endParaRPr/>
          </a:p>
        </p:txBody>
      </p:sp>
      <p:sp>
        <p:nvSpPr>
          <p:cNvPr id="362" name="Google Shape;362;p25"/>
          <p:cNvSpPr txBox="1"/>
          <p:nvPr/>
        </p:nvSpPr>
        <p:spPr>
          <a:xfrm>
            <a:off x="1709737" y="4993481"/>
            <a:ext cx="9867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Montserrat"/>
                <a:ea typeface="Montserrat"/>
                <a:cs typeface="Montserrat"/>
                <a:sym typeface="Montserrat"/>
              </a:rPr>
              <a:t>www.holyoliveoil.com.au</a:t>
            </a:r>
            <a:endParaRPr/>
          </a:p>
        </p:txBody>
      </p:sp>
      <p:sp>
        <p:nvSpPr>
          <p:cNvPr id="363" name="Google Shape;363;p25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IMAGE SOURCES</a:t>
            </a:r>
            <a:endParaRPr/>
          </a:p>
        </p:txBody>
      </p:sp>
      <p:sp>
        <p:nvSpPr>
          <p:cNvPr id="364" name="Google Shape;364;p25"/>
          <p:cNvSpPr/>
          <p:nvPr/>
        </p:nvSpPr>
        <p:spPr>
          <a:xfrm>
            <a:off x="571500" y="981075"/>
            <a:ext cx="11049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
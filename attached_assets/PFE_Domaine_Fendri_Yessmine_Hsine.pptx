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  <p:embeddedFont>
      <p:font typeface="Cinzel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D2862B-52F9-4485-B6A9-9AC04C1CC2F1}">
  <a:tblStyle styleId="{A1D2862B-52F9-4485-B6A9-9AC04C1CC2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font" Target="fonts/Raleway-regular.fntdata"/><Relationship Id="rId21" Type="http://schemas.openxmlformats.org/officeDocument/2006/relationships/font" Target="fonts/Raleway-bold.fntdata"/><Relationship Id="rId22" Type="http://schemas.openxmlformats.org/officeDocument/2006/relationships/font" Target="fonts/Raleway-italic.fntdata"/><Relationship Id="rId23" Type="http://schemas.openxmlformats.org/officeDocument/2006/relationships/font" Target="fonts/Raleway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Montserrat-regular.fntdata"/><Relationship Id="rId29" Type="http://schemas.openxmlformats.org/officeDocument/2006/relationships/font" Target="fonts/Montserrat-bold.fntdata"/><Relationship Id="rId30" Type="http://schemas.openxmlformats.org/officeDocument/2006/relationships/font" Target="fonts/Montserrat-italic.fntdata"/><Relationship Id="rId31" Type="http://schemas.openxmlformats.org/officeDocument/2006/relationships/font" Target="fonts/Montserrat-boldItalic.fntdata"/><Relationship Id="rId32" Type="http://schemas.openxmlformats.org/officeDocument/2006/relationships/font" Target="fonts/MontserratMedium-regular.fntdata"/><Relationship Id="rId33" Type="http://schemas.openxmlformats.org/officeDocument/2006/relationships/font" Target="fonts/MontserratMedium-bold.fntdata"/><Relationship Id="rId34" Type="http://schemas.openxmlformats.org/officeDocument/2006/relationships/font" Target="fonts/MontserratMedium-italic.fntdata"/><Relationship Id="rId35" Type="http://schemas.openxmlformats.org/officeDocument/2006/relationships/font" Target="fonts/MontserratMedium-boldItalic.fntdata"/><Relationship Id="rId36" Type="http://schemas.openxmlformats.org/officeDocument/2006/relationships/font" Target="fonts/Cinzel-regular.fntdata"/><Relationship Id="rId37" Type="http://schemas.openxmlformats.org/officeDocument/2006/relationships/font" Target="fonts/Cinzel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8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E1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96196"/>
            <a:ext cx="11049000" cy="11668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1785491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9B2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PROJET DE FIN D'ÉTUDES • ISIM SFAX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980485" y="2080766"/>
            <a:ext cx="8231028" cy="80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DFBF7"/>
                </a:solidFill>
                <a:latin typeface="Cinzel"/>
                <a:ea typeface="Cinzel"/>
                <a:cs typeface="Cinzel"/>
                <a:sym typeface="Cinzel"/>
              </a:rPr>
              <a:t>CONCEPTION ET DÉVELOPPEMENT D'UNE APPLICATION E-COMMERCE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550" u="none" cap="none" strike="noStrike">
                <a:solidFill>
                  <a:srgbClr val="FDFBF7"/>
                </a:solidFill>
                <a:latin typeface="Cinzel"/>
                <a:ea typeface="Cinzel"/>
                <a:cs typeface="Cinzel"/>
                <a:sym typeface="Cinzel"/>
              </a:rPr>
              <a:t/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2176462" y="3000821"/>
            <a:ext cx="7839075" cy="2857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3172271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DFBF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PLATEFORME FULLSTACK TRILINGUE — REACT · NODE.JS · MONGODB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82601" y="4343846"/>
            <a:ext cx="37337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59B27"/>
                </a:solidFill>
                <a:latin typeface="Cinzel"/>
                <a:ea typeface="Cinzel"/>
                <a:cs typeface="Cinzel"/>
                <a:sym typeface="Cinzel"/>
              </a:rPr>
              <a:t>PRÉSENTÉ PAR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4562921"/>
            <a:ext cx="3555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Yessmine Hsine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Licence en Informatique &amp; Multimédia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229051" y="4343846"/>
            <a:ext cx="37337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59B27"/>
                </a:solidFill>
                <a:latin typeface="Cinzel"/>
                <a:ea typeface="Cinzel"/>
                <a:cs typeface="Cinzel"/>
                <a:sym typeface="Cinzel"/>
              </a:rPr>
              <a:t>ORGANISME D'ACCUEIL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17950" y="4562921"/>
            <a:ext cx="3555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Digilab Solutions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Soutenu le 01/06/2026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975498" y="4343846"/>
            <a:ext cx="37339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59B27"/>
                </a:solidFill>
                <a:latin typeface="Cinzel"/>
                <a:ea typeface="Cinzel"/>
                <a:cs typeface="Cinzel"/>
                <a:sym typeface="Cinzel"/>
              </a:rPr>
              <a:t>MEMBRES DU JURY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064400" y="4562921"/>
            <a:ext cx="3556099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M. Kharrat Ahmed (Président)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Mme Taktak Emna (Rapporteur)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Mme Tagougui Najiba (Encadrante)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0812"/>
            <a:ext cx="5334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90812"/>
            <a:ext cx="533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66775" y="29860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L'Organisme d'Accueil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866775" y="33004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34528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Digilab Solutions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est une agence de communication et de marketing digital de référence basée à l'Ariana, spécialisée dans :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81775" y="29860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Le Produit : Domaine FENDRI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581775" y="33004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581775" y="34528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Un fleuron de l'oléiculture biologique tunisienne fondé en 1911 à Sfax :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28675" y="399573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6775" y="399573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Le développement de solutions e-commerce et d'applications web métier.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28675" y="42910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66775" y="42910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L'accompagnement sur-mesure dans la transformation digitale des entreprises.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43675" y="37957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81775" y="37957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Leader mondial de l'huile biologique monovariétale (Chetoui).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43675" y="409098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581775" y="409098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Reconnu à l'international pour son excellence et sa pureté.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543675" y="438626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81775" y="438626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Besoin de valoriser ce patrimoine par une plateforme e-commerce digitale moderne.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CADRE &amp; CONTEXTE DU PROJET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66937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2166937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Les Limites de l'Existant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538412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Domaine Fendri, malgré 113 ans d'expertise et des distinctions internationales, ne dispose d'aucune présence e-commerce :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57250" y="30813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Absence e-commerce : Aucune boutique en ligne, ventes limitées au marché local tunisien.</a:t>
            </a:r>
            <a:r>
              <a:rPr b="0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57250" y="36528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Concurrence internationale : Les producteurs espagnols et italiens sont déjà bien positionnés en ligne.</a:t>
            </a:r>
            <a:r>
              <a:rPr b="0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57250" y="42243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Barrière linguistique : Aucune interface multilingue pour atteindre les marchés européens et arabophones.</a:t>
            </a:r>
            <a:r>
              <a:rPr b="0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76462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51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766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815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PROBLÉMATIQUE &amp; CONSTAT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7962"/>
            <a:ext cx="35559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47962"/>
            <a:ext cx="35559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47962"/>
            <a:ext cx="35559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19150" y="3557587"/>
            <a:ext cx="32136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Catalogue E-Commerce Interactif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19150" y="3929062"/>
            <a:ext cx="306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Fiches produits complètes, panier d'achat, gestion des commandes et suivi en temps réel.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565600" y="3557587"/>
            <a:ext cx="32136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Site Trilingue FR · AR · EN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565600" y="3929062"/>
            <a:ext cx="306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Interface multilingue avec support RTL arabe et switch de langue instantané sur toutes les pages.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12050" y="3557587"/>
            <a:ext cx="32136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Panel Admin &amp; Automatisation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12050" y="3929062"/>
            <a:ext cx="306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Tableau de bord administrateur complet et emails automatiques via Nodemailer Gmail SMTP.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03371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5600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050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LA SOLUTION : APPLICATION E-COMMERCE FULLSTACK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62437"/>
            <a:ext cx="254124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166937"/>
            <a:ext cx="254124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262437"/>
            <a:ext cx="254124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166937"/>
            <a:ext cx="254124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571500" y="4005262"/>
            <a:ext cx="11049000" cy="2857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67988" y="4414837"/>
            <a:ext cx="23482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1 : Architecture &amp; Base de Données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23900" y="5043487"/>
            <a:ext cx="223644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Mise en place de l'API REST Express, MongoDB Atlas, modèles Mongoose et authentification JWT.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503908" y="2319337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2 : Interface &amp; Navigation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559819" y="2690812"/>
            <a:ext cx="223644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Développement React 19 + TailwindCSS, routing, composants UI et intégration i18next trilingue.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39828" y="4414837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3 : Fonctionnalités Métier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395739" y="4786312"/>
            <a:ext cx="223644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Catalogue, configurateur de bouteilles, panier, commandes, chatbot et emails automatiques.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175748" y="2319337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4 : Admin &amp; Optimisation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231659" y="2690812"/>
            <a:ext cx="223644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Panel admin complet, gestion statuts commandes, responsive mobile et audit accessibilité.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MÉTHODOLOGIE AGILE SCRUM ADOPTÉE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756395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592315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7428234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264154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334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90787"/>
            <a:ext cx="53340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866775" y="2786062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Matrice des Risques Clés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866775" y="3100387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325278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R1: Internationalisation arabe (RTL)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37957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R2: Emails automatiques en production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43386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R3: Responsive mobile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581775" y="2786062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Ressources Déployées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581775" y="3100387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581775" y="3252787"/>
            <a:ext cx="4743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Ressources Humaines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Yessmine Hsine (Développement complet), M. Hassen Laabidi (Encadrement pro), Mme Najiba Tagougui (Encadrement académique).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581775" y="39957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Ressources Techniques : React 19, TypeScript, TailwindCSS, Node.js, Express, MongoDB Atlas, Nodemailer.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ANALYSE DES RISQUES &amp; RESSOURCES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95788" y="4305300"/>
            <a:ext cx="538067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Couche Présentation (Frontend)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23900" y="4676775"/>
            <a:ext cx="5124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React 19 + Vite + TypeScript · TailwindCSS · i18next (FR/AR/EN) · React Router — interface responsive et multilingue.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215538" y="4305300"/>
            <a:ext cx="538067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Couche Logique (Backend)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343650" y="4676775"/>
            <a:ext cx="5124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Node.js + Express · JWT + bcrypt · Nodemailer Gmail SMTP · Helmet + Rate-limiting — API REST sécurisée.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ARCHITECTURE TECHNIQUE — 3 COUCHES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Picture 215" descr="image_177963042879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1508760"/>
            <a:ext cx="1118311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0"/>
          <p:cNvGraphicFramePr/>
          <p:nvPr/>
        </p:nvGraphicFramePr>
        <p:xfrm>
          <a:off x="571500" y="2847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{A1D2862B-52F9-4485-B6A9-9AC04C1CC2F1}</a:tableStyleId>
              </a:tblPr>
              <a:tblGrid>
                <a:gridCol w="2638875"/>
                <a:gridCol w="1458825"/>
                <a:gridCol w="1372950"/>
                <a:gridCol w="1952325"/>
                <a:gridCol w="1877175"/>
                <a:gridCol w="1748875"/>
              </a:tblGrid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Modèle Conçu sous Blender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Format Réel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Poids Initial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Poids WebP Optimisé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Réduction Globale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Statut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Bouteille Cylindrique 500 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Verre Premium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12,4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3,85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-69%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Bouteille Carrée Élancée 750 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Verre Luxe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13,9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3,76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-73%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Bidon Métallique Tradition 3 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Métal Brillant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18,3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3,56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Bidon Vert Écologique 1 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Bio Protégé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8,75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3,87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-56%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0"/>
          <p:cNvSpPr/>
          <p:nvPr/>
        </p:nvSpPr>
        <p:spPr>
          <a:xfrm>
            <a:off x="571500" y="3243262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210371" y="3243262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669184" y="3243262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6042124" y="3243262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994451" y="3243262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9871620" y="3243262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71500" y="3633787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210371" y="3633787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669184" y="3633787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042124" y="3633787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994451" y="3633787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871620" y="3633787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71500" y="4024312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210371" y="4024312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669184" y="4024312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042124" y="4024312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994451" y="4024312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9871620" y="4024312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71500" y="4414837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3210371" y="4414837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669184" y="4414837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42124" y="4414837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7994451" y="4414837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9871620" y="4414837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71500" y="4805362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210371" y="4805362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669184" y="4805362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042124" y="4805362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7994451" y="4805362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9871620" y="4805362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417195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378142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33909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456247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33909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378142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417195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456247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DÉMONSTRATION — FONCTIONNALITÉS CLÉS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412"/>
            <a:ext cx="53340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38412"/>
            <a:ext cx="53340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866775" y="28336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Choix Typographiques</a:t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866775" y="31480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866775" y="33004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Afin de traduire l'élégance et la modernité, deux polices majeures ont été structurées :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581775" y="28336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Palette Chromatique Premium</a:t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6581775" y="31480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828675" y="384333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66775" y="38433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Playfair Display : Serif élégant pour les titres — évoque le prestige et le savoir-faire artisanal.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28675" y="433863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66775" y="43386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DM Sans : Sans-serif moderne et lisible pour le corps du texte et les interfaces.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543675" y="33004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581775" y="3300412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Vert Foncé (#1a2617) : Nature, authenticité et ancrage traditionnel tunisien.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6543675" y="362426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581775" y="3624262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Or (#d4af37) : Prestige, qualité et lumière de Tunisie.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543675" y="39481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581775" y="3948112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Beige Crème (#f7f5f0) : Clarté, pureté et douceur.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IDENTITÉ VISUELLE DE L'INTERFACE</a:t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/>
        </p:nvSpPr>
        <p:spPr>
          <a:xfrm>
            <a:off x="571500" y="571500"/>
            <a:ext cx="5600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LA PLATEFORME E-COMMERCE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71500" y="1076325"/>
            <a:ext cx="5334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571500" y="1381125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Expérience Client Complète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571500" y="175260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Une plateforme e-commerce fullstack pensée pour valoriser le produit et convertir le visiteur :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571500" y="2295525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Catalogue Produits : 4 références (500ml, 750ml, 1L, 3L) avec fiches techniques et certifications bio.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571500" y="283845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Panier &amp; Commande : Parcours fluide invité ou connecté, récapitulatif détaillé et confirmation email automatique.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571500" y="3381375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Espace Admin : Dashboard de pilotage, gestion des statuts (en attente → préparation → expédié → livré).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6286500" y="2443162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Parcours de Personnalisation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286500" y="2814637"/>
            <a:ext cx="5334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Un flux structuré et ergonomique en 5 étapes fluides :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286500" y="4681537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Demande de Devis : Calcul dynamique et envoi automatique par email via Nodemailer Gmail SMTP.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400800" y="315753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6477000" y="3157537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Choix du Modèle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Cylindrique, carré, bidon métallique ou bio.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372225" y="3452812"/>
            <a:ext cx="104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6477000" y="3452812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Sélection du Volume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500 ml, 750 ml, 1 L ou 3 L.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6372225" y="3748087"/>
            <a:ext cx="104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6477000" y="3748087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Style d'Étiquette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Classique, Moderne, Édition Prestige Or.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6362700" y="4043362"/>
            <a:ext cx="114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477000" y="4043362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Sélection de l'Emballage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Coffret tiroir, boîte magnétique ou bois.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6372225" y="4338637"/>
            <a:ext cx="104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477000" y="4338637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Message Personnalisé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Gravure d'une dédicace sur-mesure.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CONFIGURATEUR 3D INTERACTIF</a:t>
            </a:r>
            <a:endParaRPr/>
          </a:p>
        </p:txBody>
      </p:sp>
      <p:sp>
        <p:nvSpPr>
          <p:cNvPr id="320" name="Google Shape;320;p23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Picture 320" descr="image_17796304084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1508760"/>
            <a:ext cx="1118311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293268"/>
            <a:ext cx="8839200" cy="152876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1410414" y="1569243"/>
            <a:ext cx="937117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Merci pour votre Attention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1633537" y="2436018"/>
            <a:ext cx="8924925" cy="2857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 txBox="1"/>
          <p:nvPr/>
        </p:nvSpPr>
        <p:spPr>
          <a:xfrm>
            <a:off x="571500" y="2750343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533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CONCEPTION ET DÉVELOPPEMENT D'UNE APPLICATION E-COMMERCE POUR DOMAINE FENDRI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571500" y="5107781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533E"/>
                </a:solidFill>
                <a:latin typeface="Montserrat"/>
                <a:ea typeface="Montserrat"/>
                <a:cs typeface="Montserrat"/>
                <a:sym typeface="Montserrat"/>
              </a:rPr>
              <a:t>Yessmine Hsine | Licence en Informatique &amp; Multimédia | ISIM Sfax 2026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2281237" y="3493293"/>
            <a:ext cx="3800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Bilan Technique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2281237" y="3798093"/>
            <a:ext cx="361950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2281237" y="3921918"/>
            <a:ext cx="36195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Application e-commerce fullstack opérationnelle.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6710362" y="3493293"/>
            <a:ext cx="33604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Perspectives</a:t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6710362" y="3798093"/>
            <a:ext cx="320040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6710362" y="3921918"/>
            <a:ext cx="3200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Intégration paiement Konnect &amp; Stripe réel.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/>
          <p:nvPr/>
        </p:nvSpPr>
        <p:spPr>
          <a:xfrm>
            <a:off x="614362" y="2295525"/>
            <a:ext cx="109632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614362" y="3067050"/>
            <a:ext cx="109632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614362" y="3838575"/>
            <a:ext cx="109632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614362" y="305752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614362" y="305752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614362" y="3829050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614362" y="3829050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614362" y="460057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614362" y="460057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2" y="2438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1709737" y="2445543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https://www.lagourmetbox.com/media/catalog/product/cache/bbb32a7131474ce6dbca563d43ee405c/l/a/la_olive_box_800x800.jpg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709737" y="2678906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www.lagourmetbox.com</a:t>
            </a:r>
            <a:endParaRPr/>
          </a:p>
        </p:txBody>
      </p:sp>
      <p:pic>
        <p:nvPicPr>
          <p:cNvPr descr="image.png" id="354" name="Google Shape;35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362" y="3209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 txBox="1"/>
          <p:nvPr/>
        </p:nvSpPr>
        <p:spPr>
          <a:xfrm>
            <a:off x="1709737" y="3217068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https://p.turbosquid.com/ts-thumb/Mt/AuKFpd/Ot/wireframe/png/1669028741/1920x1080/fit_q87/4709d38b6c09d494c612cc47b30abd14c3a78cd6/wireframe.jpg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1709737" y="3450431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www.turbosquid.com</a:t>
            </a:r>
            <a:endParaRPr/>
          </a:p>
        </p:txBody>
      </p:sp>
      <p:pic>
        <p:nvPicPr>
          <p:cNvPr descr="image.png" id="357" name="Google Shape;35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362" y="3981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 txBox="1"/>
          <p:nvPr/>
        </p:nvSpPr>
        <p:spPr>
          <a:xfrm>
            <a:off x="1709737" y="3988593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https://worldbranddesign.com/wp-content/uploads/2020/10/01_Vassae_WBD.jpg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1709737" y="4221956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worldbranddesign.com</a:t>
            </a:r>
            <a:endParaRPr/>
          </a:p>
        </p:txBody>
      </p:sp>
      <p:pic>
        <p:nvPicPr>
          <p:cNvPr descr="image.png" id="360" name="Google Shape;36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362" y="4752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 txBox="1"/>
          <p:nvPr/>
        </p:nvSpPr>
        <p:spPr>
          <a:xfrm>
            <a:off x="1709737" y="4760118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https://www.holyoliveoil.com.au/cdn/shop/files/930213A7-383E-4B93-9441-BDA7735E2AD7.png?v=1755567329&amp;width=3840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1709737" y="4993481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www.holyoliveoil.com.au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IMAGE SOURCES</a:t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
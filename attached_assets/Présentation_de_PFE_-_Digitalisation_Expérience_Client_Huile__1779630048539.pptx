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Raleway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Montserrat"/>
      <p:regular r:id="rId28"/>
      <p:bold r:id="rId29"/>
      <p:italic r:id="rId30"/>
      <p:boldItalic r:id="rId31"/>
    </p:embeddedFont>
    <p:embeddedFont>
      <p:font typeface="Montserrat Medium"/>
      <p:regular r:id="rId32"/>
      <p:bold r:id="rId33"/>
      <p:italic r:id="rId34"/>
      <p:boldItalic r:id="rId35"/>
    </p:embeddedFont>
    <p:embeddedFont>
      <p:font typeface="Cinzel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1D2862B-52F9-4485-B6A9-9AC04C1CC2F1}">
  <a:tblStyle styleId="{A1D2862B-52F9-4485-B6A9-9AC04C1CC2F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Lato-regular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8" Type="http://schemas.openxmlformats.org/officeDocument/2006/relationships/font" Target="fonts/Montserrat-regular.fntdata"/><Relationship Id="rId27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-boldItalic.fntdata"/><Relationship Id="rId30" Type="http://schemas.openxmlformats.org/officeDocument/2006/relationships/font" Target="fonts/Montserrat-italic.fntdata"/><Relationship Id="rId11" Type="http://schemas.openxmlformats.org/officeDocument/2006/relationships/slide" Target="slides/slide5.xml"/><Relationship Id="rId33" Type="http://schemas.openxmlformats.org/officeDocument/2006/relationships/font" Target="fonts/MontserratMedium-bold.fntdata"/><Relationship Id="rId10" Type="http://schemas.openxmlformats.org/officeDocument/2006/relationships/slide" Target="slides/slide4.xml"/><Relationship Id="rId32" Type="http://schemas.openxmlformats.org/officeDocument/2006/relationships/font" Target="fonts/MontserratMedium-regular.fntdata"/><Relationship Id="rId13" Type="http://schemas.openxmlformats.org/officeDocument/2006/relationships/slide" Target="slides/slide7.xml"/><Relationship Id="rId35" Type="http://schemas.openxmlformats.org/officeDocument/2006/relationships/font" Target="fonts/MontserratMedium-boldItalic.fntdata"/><Relationship Id="rId12" Type="http://schemas.openxmlformats.org/officeDocument/2006/relationships/slide" Target="slides/slide6.xml"/><Relationship Id="rId34" Type="http://schemas.openxmlformats.org/officeDocument/2006/relationships/font" Target="fonts/MontserratMedium-italic.fntdata"/><Relationship Id="rId15" Type="http://schemas.openxmlformats.org/officeDocument/2006/relationships/slide" Target="slides/slide9.xml"/><Relationship Id="rId37" Type="http://schemas.openxmlformats.org/officeDocument/2006/relationships/font" Target="fonts/Cinzel-bold.fntdata"/><Relationship Id="rId14" Type="http://schemas.openxmlformats.org/officeDocument/2006/relationships/slide" Target="slides/slide8.xml"/><Relationship Id="rId36" Type="http://schemas.openxmlformats.org/officeDocument/2006/relationships/font" Target="fonts/Cinzel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972600" y="1763267"/>
            <a:ext cx="10250700" cy="2219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972837" y="4230533"/>
            <a:ext cx="10250700" cy="721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972600" y="1763267"/>
            <a:ext cx="10251300" cy="20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972600" y="1758200"/>
            <a:ext cx="102516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972600" y="2771833"/>
            <a:ext cx="102516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972434" y="2771833"/>
            <a:ext cx="50325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6191471" y="2771833"/>
            <a:ext cx="50325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973333" y="1758200"/>
            <a:ext cx="4401300" cy="184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961633" y="3708967"/>
            <a:ext cx="4401300" cy="2130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1107036" y="5558926"/>
            <a:ext cx="994316" cy="61102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972600" y="1152400"/>
            <a:ext cx="9361500" cy="3980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973333" y="1758200"/>
            <a:ext cx="4401300" cy="2249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966600" y="4215367"/>
            <a:ext cx="4401300" cy="1011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6898967" y="1803500"/>
            <a:ext cx="4499100" cy="4034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966600" y="5830068"/>
            <a:ext cx="10263300" cy="614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1107036" y="5558926"/>
            <a:ext cx="994316" cy="61102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972600" y="978600"/>
            <a:ext cx="10251300" cy="1659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972600" y="3030517"/>
            <a:ext cx="10251300" cy="2107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  <a:defRPr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1800">
        <p:fade thruBlk="1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Relationship Id="rId9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22.png"/><Relationship Id="rId7" Type="http://schemas.openxmlformats.org/officeDocument/2006/relationships/image" Target="../media/image4.png"/><Relationship Id="rId8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18.png"/><Relationship Id="rId6" Type="http://schemas.openxmlformats.org/officeDocument/2006/relationships/image" Target="../media/image12.png"/><Relationship Id="rId7" Type="http://schemas.openxmlformats.org/officeDocument/2006/relationships/image" Target="../media/image3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25.png"/><Relationship Id="rId5" Type="http://schemas.openxmlformats.org/officeDocument/2006/relationships/image" Target="../media/image31.png"/><Relationship Id="rId6" Type="http://schemas.openxmlformats.org/officeDocument/2006/relationships/image" Target="../media/image23.png"/><Relationship Id="rId7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21.png"/><Relationship Id="rId5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3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29.png"/><Relationship Id="rId5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3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E1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96196"/>
            <a:ext cx="11049000" cy="1166812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571500" y="1785491"/>
            <a:ext cx="11049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9B2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PROJET DE FIN D'ÉTUDES • ISIM SFAX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980485" y="2080766"/>
            <a:ext cx="8231028" cy="805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DFBF7"/>
                </a:solidFill>
                <a:latin typeface="Cinzel"/>
                <a:ea typeface="Cinzel"/>
                <a:cs typeface="Cinzel"/>
                <a:sym typeface="Cinzel"/>
              </a:rPr>
              <a:t>DIGITALISATION DE L'EXPÉRIENCE CLIENT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550" u="none" cap="none" strike="noStrike">
                <a:solidFill>
                  <a:srgbClr val="FDFBF7"/>
                </a:solidFill>
                <a:latin typeface="Cinzel"/>
                <a:ea typeface="Cinzel"/>
                <a:cs typeface="Cinzel"/>
                <a:sym typeface="Cinzel"/>
              </a:rPr>
              <a:t> POUR L'HUILE D'OLIVE EXTRA VIERGE</a:t>
            </a:r>
            <a:endParaRPr/>
          </a:p>
        </p:txBody>
      </p:sp>
      <p:sp>
        <p:nvSpPr>
          <p:cNvPr id="90" name="Google Shape;90;p13"/>
          <p:cNvSpPr/>
          <p:nvPr/>
        </p:nvSpPr>
        <p:spPr>
          <a:xfrm>
            <a:off x="2176462" y="3000821"/>
            <a:ext cx="7839075" cy="28575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571500" y="3172271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DFBF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VIA UN CONFIGURATEUR 3D INTERACTIF HAUT DE GAMME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482601" y="4343846"/>
            <a:ext cx="373374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C59B27"/>
                </a:solidFill>
                <a:latin typeface="Cinzel"/>
                <a:ea typeface="Cinzel"/>
                <a:cs typeface="Cinzel"/>
                <a:sym typeface="Cinzel"/>
              </a:rPr>
              <a:t>PRÉSENTÉ PAR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571500" y="4562921"/>
            <a:ext cx="35559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1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FDFBF7"/>
                </a:solidFill>
                <a:latin typeface="Montserrat"/>
                <a:ea typeface="Montserrat"/>
                <a:cs typeface="Montserrat"/>
                <a:sym typeface="Montserrat"/>
              </a:rPr>
              <a:t>Yessmine Hsine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FDFBF7"/>
                </a:solidFill>
                <a:latin typeface="Montserrat"/>
                <a:ea typeface="Montserrat"/>
                <a:cs typeface="Montserrat"/>
                <a:sym typeface="Montserrat"/>
              </a:rPr>
              <a:t> Licence en Informatique &amp; Multimédia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4229051" y="4343846"/>
            <a:ext cx="373374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C59B27"/>
                </a:solidFill>
                <a:latin typeface="Cinzel"/>
                <a:ea typeface="Cinzel"/>
                <a:cs typeface="Cinzel"/>
                <a:sym typeface="Cinzel"/>
              </a:rPr>
              <a:t>ORGANISME D'ACCUEIL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4317950" y="4562921"/>
            <a:ext cx="35559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1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FDFBF7"/>
                </a:solidFill>
                <a:latin typeface="Montserrat"/>
                <a:ea typeface="Montserrat"/>
                <a:cs typeface="Montserrat"/>
                <a:sym typeface="Montserrat"/>
              </a:rPr>
              <a:t>Digilab Solutions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FDFBF7"/>
                </a:solidFill>
                <a:latin typeface="Montserrat"/>
                <a:ea typeface="Montserrat"/>
                <a:cs typeface="Montserrat"/>
                <a:sym typeface="Montserrat"/>
              </a:rPr>
              <a:t> Soutenu le 01/06/2026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7975498" y="4343846"/>
            <a:ext cx="373390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C59B27"/>
                </a:solidFill>
                <a:latin typeface="Cinzel"/>
                <a:ea typeface="Cinzel"/>
                <a:cs typeface="Cinzel"/>
                <a:sym typeface="Cinzel"/>
              </a:rPr>
              <a:t>MEMBRES DU JURY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8064400" y="4562921"/>
            <a:ext cx="3556099" cy="557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1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DFBF7"/>
                </a:solidFill>
                <a:latin typeface="Montserrat"/>
                <a:ea typeface="Montserrat"/>
                <a:cs typeface="Montserrat"/>
                <a:sym typeface="Montserrat"/>
              </a:rPr>
              <a:t>M. Kharrat Ahmed (Président)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FDFBF7"/>
                </a:solidFill>
                <a:latin typeface="Montserrat"/>
                <a:ea typeface="Montserrat"/>
                <a:cs typeface="Montserrat"/>
                <a:sym typeface="Montserrat"/>
              </a:rPr>
              <a:t> Mme Taktak Emna (Rapporteur)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FDFBF7"/>
                </a:solidFill>
                <a:latin typeface="Montserrat"/>
                <a:ea typeface="Montserrat"/>
                <a:cs typeface="Montserrat"/>
                <a:sym typeface="Montserrat"/>
              </a:rPr>
              <a:t> Mme Tagougui Najiba (Encadrante)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90812"/>
            <a:ext cx="5334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690812"/>
            <a:ext cx="53340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866775" y="2986087"/>
            <a:ext cx="498062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533E"/>
                </a:solidFill>
                <a:latin typeface="Cinzel"/>
                <a:ea typeface="Cinzel"/>
                <a:cs typeface="Cinzel"/>
                <a:sym typeface="Cinzel"/>
              </a:rPr>
              <a:t>L'Organisme d'Accueil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866775" y="3300412"/>
            <a:ext cx="4743450" cy="9525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866775" y="3452812"/>
            <a:ext cx="4743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Digilab Solutions</a:t>
            </a: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 est une agence de communication et de marketing digital de référence basée à l'Ariana, spécialisée dans :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581775" y="2986087"/>
            <a:ext cx="498062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533E"/>
                </a:solidFill>
                <a:latin typeface="Cinzel"/>
                <a:ea typeface="Cinzel"/>
                <a:cs typeface="Cinzel"/>
                <a:sym typeface="Cinzel"/>
              </a:rPr>
              <a:t>Le Produit : Domaine FENDRI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6581775" y="3300412"/>
            <a:ext cx="4743450" cy="9525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6581775" y="3452812"/>
            <a:ext cx="4743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Un fleuron de l'oléiculture biologique tunisienne fondé en 1911 à Sfax :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28675" y="3995737"/>
            <a:ext cx="38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66775" y="3995737"/>
            <a:ext cx="4743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Le développement de solutions innovantes et interactives.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828675" y="4291012"/>
            <a:ext cx="38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866775" y="4291012"/>
            <a:ext cx="4743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L'accompagnement haut de gamme pour la transformation digitale.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543675" y="3795712"/>
            <a:ext cx="38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6581775" y="3795712"/>
            <a:ext cx="4743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Leader mondial de l'huile biologique monovariétale (Chetoui).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6543675" y="4090987"/>
            <a:ext cx="38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6581775" y="4090987"/>
            <a:ext cx="4743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Reconnu à l'international pour son excellence et sa pureté.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6543675" y="4386262"/>
            <a:ext cx="38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6581775" y="4386262"/>
            <a:ext cx="4743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Besoin de valoriser ce patrimoine par les technologies immersives.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E1F"/>
                </a:solidFill>
                <a:latin typeface="Cinzel"/>
                <a:ea typeface="Cinzel"/>
                <a:cs typeface="Cinzel"/>
                <a:sym typeface="Cinzel"/>
              </a:rPr>
              <a:t>CADRE &amp; CONTEXTE DU PROJET</a:t>
            </a:r>
            <a:endParaRPr/>
          </a:p>
        </p:txBody>
      </p:sp>
      <p:sp>
        <p:nvSpPr>
          <p:cNvPr id="122" name="Google Shape;122;p14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166937"/>
            <a:ext cx="5334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571500" y="2166937"/>
            <a:ext cx="56007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533E"/>
                </a:solidFill>
                <a:latin typeface="Cinzel"/>
                <a:ea typeface="Cinzel"/>
                <a:cs typeface="Cinzel"/>
                <a:sym typeface="Cinzel"/>
              </a:rPr>
              <a:t>Les Limites de l'Existant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571500" y="2538412"/>
            <a:ext cx="533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L'huile d'olive tunisienne premium souffre d'un manque de valorisation sensorielle et numérique interactive :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857250" y="3081337"/>
            <a:ext cx="5048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Représentation 2D Classique :</a:t>
            </a:r>
            <a:r>
              <a:rPr b="0" i="0" lang="en-US" sz="1125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 Présentation statique qui échoue à transmettre le prestige du packaging d'exception.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857250" y="3652837"/>
            <a:ext cx="5048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Expérience Standard :</a:t>
            </a:r>
            <a:r>
              <a:rPr b="0" i="0" lang="en-US" sz="1125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 Aucune personnalisation pour l'exportation haut de gamme ou les segments cadeaux d'affaires.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857250" y="4224337"/>
            <a:ext cx="5048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Le Défi Web :</a:t>
            </a:r>
            <a:r>
              <a:rPr b="0" i="0" lang="en-US" sz="1125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 L'intégration de la 3D en temps réel est freinée par les contraintes mobiles et les temps de chargement.</a:t>
            </a:r>
            <a:endParaRPr/>
          </a:p>
        </p:txBody>
      </p:sp>
      <p:pic>
        <p:nvPicPr>
          <p:cNvPr descr="image.png" id="134" name="Google Shape;13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2176462"/>
            <a:ext cx="5314950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1051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6766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48150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5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E1F"/>
                </a:solidFill>
                <a:latin typeface="Cinzel"/>
                <a:ea typeface="Cinzel"/>
                <a:cs typeface="Cinzel"/>
                <a:sym typeface="Cinzel"/>
              </a:rPr>
              <a:t>PROBLÉMATIQUE &amp; CONSTAT</a:t>
            </a:r>
            <a:endParaRPr/>
          </a:p>
        </p:txBody>
      </p:sp>
      <p:sp>
        <p:nvSpPr>
          <p:cNvPr id="139" name="Google Shape;139;p15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47962"/>
            <a:ext cx="3555950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747962"/>
            <a:ext cx="3555950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747962"/>
            <a:ext cx="355595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819150" y="3557587"/>
            <a:ext cx="321368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533E"/>
                </a:solidFill>
                <a:latin typeface="Cinzel"/>
                <a:ea typeface="Cinzel"/>
                <a:cs typeface="Cinzel"/>
                <a:sym typeface="Cinzel"/>
              </a:rPr>
              <a:t>Assets 3D Ultra-Réalistes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819150" y="3929062"/>
            <a:ext cx="30606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Création de modèles 3D photoréalistes des quatre flacons emblématiques du domaine sous Blender.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4565600" y="3557587"/>
            <a:ext cx="321368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533E"/>
                </a:solidFill>
                <a:latin typeface="Cinzel"/>
                <a:ea typeface="Cinzel"/>
                <a:cs typeface="Cinzel"/>
                <a:sym typeface="Cinzel"/>
              </a:rPr>
              <a:t>Personnalisation Client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4565600" y="3929062"/>
            <a:ext cx="30606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Un configurateur interactif web fluide guidant l'utilisateur sur le choix des volumes, styles et étiquettes.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8312050" y="3557587"/>
            <a:ext cx="321368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533E"/>
                </a:solidFill>
                <a:latin typeface="Cinzel"/>
                <a:ea typeface="Cinzel"/>
                <a:cs typeface="Cinzel"/>
                <a:sym typeface="Cinzel"/>
              </a:rPr>
              <a:t>Performance Optimisée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8312050" y="3929062"/>
            <a:ext cx="30606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Workflow hybride performant s'affranchissant des lourdeurs WebGL pour un chargement immédiat sur mobile.</a:t>
            </a:r>
            <a:endParaRPr/>
          </a:p>
        </p:txBody>
      </p:sp>
      <p:pic>
        <p:nvPicPr>
          <p:cNvPr descr="image.png" id="154" name="Google Shape;15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3033712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65600" y="303371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12050" y="3033712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E1F"/>
                </a:solidFill>
                <a:latin typeface="Cinzel"/>
                <a:ea typeface="Cinzel"/>
                <a:cs typeface="Cinzel"/>
                <a:sym typeface="Cinzel"/>
              </a:rPr>
              <a:t>LA SOLUTION : JUMEAU NUMÉRIQUE 3D</a:t>
            </a: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262437"/>
            <a:ext cx="2541240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7419" y="2166937"/>
            <a:ext cx="254124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43339" y="4262437"/>
            <a:ext cx="254124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79259" y="2166937"/>
            <a:ext cx="2541240" cy="161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/>
          <p:nvPr/>
        </p:nvSpPr>
        <p:spPr>
          <a:xfrm>
            <a:off x="571500" y="4005262"/>
            <a:ext cx="11049000" cy="28575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667988" y="4414837"/>
            <a:ext cx="234826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533E"/>
                </a:solidFill>
                <a:latin typeface="Cinzel"/>
                <a:ea typeface="Cinzel"/>
                <a:cs typeface="Cinzel"/>
                <a:sym typeface="Cinzel"/>
              </a:rPr>
              <a:t>Sprint 1 : 3D &amp; Shaders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723900" y="5043487"/>
            <a:ext cx="223644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Modélisation 3D sous Blender, textures PBR, et export des rendus photoréalistes optimisés.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3503908" y="2319337"/>
            <a:ext cx="234826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533E"/>
                </a:solidFill>
                <a:latin typeface="Cinzel"/>
                <a:ea typeface="Cinzel"/>
                <a:cs typeface="Cinzel"/>
                <a:sym typeface="Cinzel"/>
              </a:rPr>
              <a:t>Sprint 2 : Frontend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3559819" y="2690812"/>
            <a:ext cx="223644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Développement de l'interface utilisateur web et intégration du configurateur par commutation dynamique.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6339828" y="4414837"/>
            <a:ext cx="234826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533E"/>
                </a:solidFill>
                <a:latin typeface="Cinzel"/>
                <a:ea typeface="Cinzel"/>
                <a:cs typeface="Cinzel"/>
                <a:sym typeface="Cinzel"/>
              </a:rPr>
              <a:t>Sprint 3 : Backend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6395739" y="4786312"/>
            <a:ext cx="223644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Implémentation de l'API REST sous Express, base MongoDB, JWT et gestion de paniers / commandes.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9175748" y="2319337"/>
            <a:ext cx="234826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533E"/>
                </a:solidFill>
                <a:latin typeface="Cinzel"/>
                <a:ea typeface="Cinzel"/>
                <a:cs typeface="Cinzel"/>
                <a:sym typeface="Cinzel"/>
              </a:rPr>
              <a:t>Sprint 4 : Qualité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9231659" y="2690812"/>
            <a:ext cx="223644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Internationalisation FR/AR/EN, mode RTL, SEO, tests d'intégration Vitest et éco-conception.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E1F"/>
                </a:solidFill>
                <a:latin typeface="Cinzel"/>
                <a:ea typeface="Cinzel"/>
                <a:cs typeface="Cinzel"/>
                <a:sym typeface="Cinzel"/>
              </a:rPr>
              <a:t>MÉTHODOLOGIE AGILE SCRUM ADOPTÉE</a:t>
            </a:r>
            <a:endParaRPr/>
          </a:p>
        </p:txBody>
      </p:sp>
      <p:sp>
        <p:nvSpPr>
          <p:cNvPr id="178" name="Google Shape;178;p17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1756395" y="3938587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FDFBF7"/>
          </a:solidFill>
          <a:ln cap="flat" cmpd="sng" w="38100">
            <a:solidFill>
              <a:srgbClr val="1E2E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4592315" y="3938587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FDFBF7"/>
          </a:solidFill>
          <a:ln cap="flat" cmpd="sng" w="38100">
            <a:solidFill>
              <a:srgbClr val="1E2E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7428234" y="3938587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FDFBF7"/>
          </a:solidFill>
          <a:ln cap="flat" cmpd="sng" w="38100">
            <a:solidFill>
              <a:srgbClr val="1E2E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10264154" y="3938587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FDFBF7"/>
          </a:solidFill>
          <a:ln cap="flat" cmpd="sng" w="38100">
            <a:solidFill>
              <a:srgbClr val="1E2E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90787"/>
            <a:ext cx="5334000" cy="268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490787"/>
            <a:ext cx="5334000" cy="268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8"/>
          <p:cNvSpPr txBox="1"/>
          <p:nvPr/>
        </p:nvSpPr>
        <p:spPr>
          <a:xfrm>
            <a:off x="866775" y="2786062"/>
            <a:ext cx="498062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533E"/>
                </a:solidFill>
                <a:latin typeface="Cinzel"/>
                <a:ea typeface="Cinzel"/>
                <a:cs typeface="Cinzel"/>
                <a:sym typeface="Cinzel"/>
              </a:rPr>
              <a:t>Matrice des Risques Clés</a:t>
            </a:r>
            <a:endParaRPr/>
          </a:p>
        </p:txBody>
      </p:sp>
      <p:sp>
        <p:nvSpPr>
          <p:cNvPr id="191" name="Google Shape;191;p18"/>
          <p:cNvSpPr/>
          <p:nvPr/>
        </p:nvSpPr>
        <p:spPr>
          <a:xfrm>
            <a:off x="866775" y="3100387"/>
            <a:ext cx="4743450" cy="9525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 txBox="1"/>
          <p:nvPr/>
        </p:nvSpPr>
        <p:spPr>
          <a:xfrm>
            <a:off x="866775" y="3252787"/>
            <a:ext cx="4743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R1: Intégration WebGL complexe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 • Solution: Export WebP d'excellence et post-traitement IA.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866775" y="3795712"/>
            <a:ext cx="4743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R2: Temps de chargement sur mobile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 • Solution: Stratégie de compression d'images de -70% et lazy loading.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866775" y="4338637"/>
            <a:ext cx="4743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R3: Sécurité des transactions de l'API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 • Solution: Protection JWT, express-validator et rate limiting.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6581775" y="2786062"/>
            <a:ext cx="498062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533E"/>
                </a:solidFill>
                <a:latin typeface="Cinzel"/>
                <a:ea typeface="Cinzel"/>
                <a:cs typeface="Cinzel"/>
                <a:sym typeface="Cinzel"/>
              </a:rPr>
              <a:t>Ressources Déployées</a:t>
            </a:r>
            <a:endParaRPr/>
          </a:p>
        </p:txBody>
      </p:sp>
      <p:sp>
        <p:nvSpPr>
          <p:cNvPr id="196" name="Google Shape;196;p18"/>
          <p:cNvSpPr/>
          <p:nvPr/>
        </p:nvSpPr>
        <p:spPr>
          <a:xfrm>
            <a:off x="6581775" y="3100387"/>
            <a:ext cx="4743450" cy="9525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6581775" y="3252787"/>
            <a:ext cx="4743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Ressources Humaines :</a:t>
            </a: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 Yessmine Hsine (Développement complet), M. Hassen Laabidi (Encadrement pro), Mme Najiba Tagougui (Encadrement académique).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6581775" y="3995737"/>
            <a:ext cx="4743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Ressources Techniques :</a:t>
            </a: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 Blender 5.0, React 19, TypeScript, TailwindCSS, Node.js, Express, MongoDB Atlas.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E1F"/>
                </a:solidFill>
                <a:latin typeface="Cinzel"/>
                <a:ea typeface="Cinzel"/>
                <a:cs typeface="Cinzel"/>
                <a:sym typeface="Cinzel"/>
              </a:rPr>
              <a:t>ANALYSE DES RISQUES &amp; RESSOURCES</a:t>
            </a:r>
            <a:endParaRPr/>
          </a:p>
        </p:txBody>
      </p:sp>
      <p:sp>
        <p:nvSpPr>
          <p:cNvPr id="200" name="Google Shape;200;p18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95525"/>
            <a:ext cx="5429250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2295525"/>
            <a:ext cx="5429250" cy="307657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9"/>
          <p:cNvSpPr txBox="1"/>
          <p:nvPr/>
        </p:nvSpPr>
        <p:spPr>
          <a:xfrm>
            <a:off x="595788" y="4305300"/>
            <a:ext cx="538067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533E"/>
                </a:solidFill>
                <a:latin typeface="Cinzel"/>
                <a:ea typeface="Cinzel"/>
                <a:cs typeface="Cinzel"/>
                <a:sym typeface="Cinzel"/>
              </a:rPr>
              <a:t>Processus Blender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723900" y="4676775"/>
            <a:ext cx="5124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Pipeline polygonal structuré sous Blender (extrusion, subdivision, solidify Modifier) pour reproduire les volumes réels.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6215538" y="4305300"/>
            <a:ext cx="538067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533E"/>
                </a:solidFill>
                <a:latin typeface="Cinzel"/>
                <a:ea typeface="Cinzel"/>
                <a:cs typeface="Cinzel"/>
                <a:sym typeface="Cinzel"/>
              </a:rPr>
              <a:t>Matériaux Réalistes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6343650" y="4676775"/>
            <a:ext cx="5124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Mise au point de shaders PBR (Principled BSDF) simulant l'indice de réfraction du verre (IOR 1.5) et la profondeur vert-or de l'huile.</a:t>
            </a:r>
            <a:endParaRPr/>
          </a:p>
        </p:txBody>
      </p:sp>
      <p:pic>
        <p:nvPicPr>
          <p:cNvPr descr="image.png" id="212" name="Google Shape;21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3900" y="2447925"/>
            <a:ext cx="512445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86550" y="2447925"/>
            <a:ext cx="44386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9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E1F"/>
                </a:solidFill>
                <a:latin typeface="Cinzel"/>
                <a:ea typeface="Cinzel"/>
                <a:cs typeface="Cinzel"/>
                <a:sym typeface="Cinzel"/>
              </a:rPr>
              <a:t>MODÉLISATION 3D DES PRODUITS</a:t>
            </a:r>
            <a:endParaRPr/>
          </a:p>
        </p:txBody>
      </p:sp>
      <p:sp>
        <p:nvSpPr>
          <p:cNvPr id="215" name="Google Shape;215;p19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1" name="Google Shape;221;p20"/>
          <p:cNvGraphicFramePr/>
          <p:nvPr/>
        </p:nvGraphicFramePr>
        <p:xfrm>
          <a:off x="571500" y="28479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{A1D2862B-52F9-4485-B6A9-9AC04C1CC2F1}</a:tableStyleId>
              </a:tblPr>
              <a:tblGrid>
                <a:gridCol w="2638875"/>
                <a:gridCol w="1458825"/>
                <a:gridCol w="1372950"/>
                <a:gridCol w="1952325"/>
                <a:gridCol w="1877175"/>
                <a:gridCol w="1748875"/>
              </a:tblGrid>
              <a:tr h="39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FDFBF7"/>
                          </a:solidFill>
                          <a:latin typeface="Cinzel"/>
                          <a:ea typeface="Cinzel"/>
                          <a:cs typeface="Cinzel"/>
                          <a:sym typeface="Cinzel"/>
                        </a:rPr>
                        <a:t>Modèle Conçu sous Blender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E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FDFBF7"/>
                          </a:solidFill>
                          <a:latin typeface="Cinzel"/>
                          <a:ea typeface="Cinzel"/>
                          <a:cs typeface="Cinzel"/>
                          <a:sym typeface="Cinzel"/>
                        </a:rPr>
                        <a:t>Format Réel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E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FDFBF7"/>
                          </a:solidFill>
                          <a:latin typeface="Cinzel"/>
                          <a:ea typeface="Cinzel"/>
                          <a:cs typeface="Cinzel"/>
                          <a:sym typeface="Cinzel"/>
                        </a:rPr>
                        <a:t>Poids Initial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E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FDFBF7"/>
                          </a:solidFill>
                          <a:latin typeface="Cinzel"/>
                          <a:ea typeface="Cinzel"/>
                          <a:cs typeface="Cinzel"/>
                          <a:sym typeface="Cinzel"/>
                        </a:rPr>
                        <a:t>Poids WebP Optimisé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E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FDFBF7"/>
                          </a:solidFill>
                          <a:latin typeface="Cinzel"/>
                          <a:ea typeface="Cinzel"/>
                          <a:cs typeface="Cinzel"/>
                          <a:sym typeface="Cinzel"/>
                        </a:rPr>
                        <a:t>Réduction Globale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E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FDFBF7"/>
                          </a:solidFill>
                          <a:latin typeface="Cinzel"/>
                          <a:ea typeface="Cinzel"/>
                          <a:cs typeface="Cinzel"/>
                          <a:sym typeface="Cinzel"/>
                        </a:rPr>
                        <a:t>Statut Validation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E1F"/>
                    </a:solidFill>
                  </a:tcPr>
                </a:tc>
              </a:tr>
              <a:tr h="39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Bouteille Cylindrique 500 ml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Verre Premium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12,4 Mo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3,85 Mo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-69%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3B533E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Validé</a:t>
                      </a:r>
                      <a:endParaRPr/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Bouteille Carrée Élancée 750 ml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53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Verre Luxe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53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13,9 Mo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53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3,76 Mo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53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-73%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53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3B533E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Validé</a:t>
                      </a:r>
                      <a:endParaRPr/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533E"/>
                    </a:solidFill>
                  </a:tcPr>
                </a:tc>
              </a:tr>
              <a:tr h="39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Bidon Métallique Tradition 3 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Métal Brillant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18,3 Mo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3,56 Mo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-81%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3B533E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Validé</a:t>
                      </a:r>
                      <a:endParaRPr/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Bidon Vert Écologique 1 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53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Bio Protégé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53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8,75 Mo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53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3,87 Mo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53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-56%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53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3B533E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Validé</a:t>
                      </a:r>
                      <a:endParaRPr/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533E"/>
                    </a:solidFill>
                  </a:tcPr>
                </a:tc>
              </a:tr>
            </a:tbl>
          </a:graphicData>
        </a:graphic>
      </p:graphicFrame>
      <p:sp>
        <p:nvSpPr>
          <p:cNvPr id="222" name="Google Shape;222;p20"/>
          <p:cNvSpPr/>
          <p:nvPr/>
        </p:nvSpPr>
        <p:spPr>
          <a:xfrm>
            <a:off x="571500" y="3243262"/>
            <a:ext cx="2638871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3210371" y="3243262"/>
            <a:ext cx="1458813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4669184" y="3243262"/>
            <a:ext cx="1372939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6042124" y="3243262"/>
            <a:ext cx="1952327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7994451" y="3243262"/>
            <a:ext cx="1877169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9871620" y="3243262"/>
            <a:ext cx="1748879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571500" y="3633787"/>
            <a:ext cx="2638871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3210371" y="3633787"/>
            <a:ext cx="1458813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4669184" y="3633787"/>
            <a:ext cx="1372939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6042124" y="3633787"/>
            <a:ext cx="1952327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7994451" y="3633787"/>
            <a:ext cx="1877169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9871620" y="3633787"/>
            <a:ext cx="1748879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571500" y="4024312"/>
            <a:ext cx="2638871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3210371" y="4024312"/>
            <a:ext cx="1458813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4669184" y="4024312"/>
            <a:ext cx="1372939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6042124" y="4024312"/>
            <a:ext cx="1952327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7994451" y="4024312"/>
            <a:ext cx="1877169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9871620" y="4024312"/>
            <a:ext cx="1748879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571500" y="4414837"/>
            <a:ext cx="2638871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3210371" y="4414837"/>
            <a:ext cx="1458813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4669184" y="4414837"/>
            <a:ext cx="1372939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6042124" y="4414837"/>
            <a:ext cx="1952327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7994451" y="4414837"/>
            <a:ext cx="1877169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9871620" y="4414837"/>
            <a:ext cx="1748879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571500" y="4805362"/>
            <a:ext cx="2638871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3210371" y="4805362"/>
            <a:ext cx="1458813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4669184" y="4805362"/>
            <a:ext cx="1372939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6042124" y="4805362"/>
            <a:ext cx="1952327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7994451" y="4805362"/>
            <a:ext cx="1877169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0"/>
          <p:cNvSpPr/>
          <p:nvPr/>
        </p:nvSpPr>
        <p:spPr>
          <a:xfrm>
            <a:off x="9871620" y="4805362"/>
            <a:ext cx="1748879" cy="9525"/>
          </a:xfrm>
          <a:prstGeom prst="rect">
            <a:avLst/>
          </a:prstGeom>
          <a:solidFill>
            <a:srgbClr val="E6E9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2" name="Google Shape;25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43070" y="4171950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43070" y="3781425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43070" y="3390900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43070" y="4562475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43070" y="3390900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43070" y="3781425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43070" y="4171950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43070" y="4562475"/>
            <a:ext cx="12382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0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E1F"/>
                </a:solidFill>
                <a:latin typeface="Cinzel"/>
                <a:ea typeface="Cinzel"/>
                <a:cs typeface="Cinzel"/>
                <a:sym typeface="Cinzel"/>
              </a:rPr>
              <a:t>VALIDATION DES ASSETS &amp; PERFORMANCE</a:t>
            </a:r>
            <a:endParaRPr/>
          </a:p>
        </p:txBody>
      </p:sp>
      <p:sp>
        <p:nvSpPr>
          <p:cNvPr id="261" name="Google Shape;261;p20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6" name="Google Shape;26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38412"/>
            <a:ext cx="5334000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538412"/>
            <a:ext cx="5334000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1"/>
          <p:cNvSpPr txBox="1"/>
          <p:nvPr/>
        </p:nvSpPr>
        <p:spPr>
          <a:xfrm>
            <a:off x="866775" y="2833687"/>
            <a:ext cx="498062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533E"/>
                </a:solidFill>
                <a:latin typeface="Cinzel"/>
                <a:ea typeface="Cinzel"/>
                <a:cs typeface="Cinzel"/>
                <a:sym typeface="Cinzel"/>
              </a:rPr>
              <a:t>Choix Typographiques</a:t>
            </a:r>
            <a:endParaRPr/>
          </a:p>
        </p:txBody>
      </p:sp>
      <p:sp>
        <p:nvSpPr>
          <p:cNvPr id="270" name="Google Shape;270;p21"/>
          <p:cNvSpPr/>
          <p:nvPr/>
        </p:nvSpPr>
        <p:spPr>
          <a:xfrm>
            <a:off x="866775" y="3148012"/>
            <a:ext cx="4743450" cy="9525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866775" y="3300412"/>
            <a:ext cx="4743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Afin de traduire l'élégance et la modernité, deux polices majeures ont été structurées :</a:t>
            </a:r>
            <a:endParaRPr/>
          </a:p>
        </p:txBody>
      </p:sp>
      <p:sp>
        <p:nvSpPr>
          <p:cNvPr id="272" name="Google Shape;272;p21"/>
          <p:cNvSpPr txBox="1"/>
          <p:nvPr/>
        </p:nvSpPr>
        <p:spPr>
          <a:xfrm>
            <a:off x="6581775" y="2833687"/>
            <a:ext cx="498062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533E"/>
                </a:solidFill>
                <a:latin typeface="Cinzel"/>
                <a:ea typeface="Cinzel"/>
                <a:cs typeface="Cinzel"/>
                <a:sym typeface="Cinzel"/>
              </a:rPr>
              <a:t>Palette Chromatique Premium</a:t>
            </a:r>
            <a:endParaRPr/>
          </a:p>
        </p:txBody>
      </p:sp>
      <p:sp>
        <p:nvSpPr>
          <p:cNvPr id="273" name="Google Shape;273;p21"/>
          <p:cNvSpPr/>
          <p:nvPr/>
        </p:nvSpPr>
        <p:spPr>
          <a:xfrm>
            <a:off x="6581775" y="3148012"/>
            <a:ext cx="4743450" cy="9525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828675" y="3843337"/>
            <a:ext cx="38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275" name="Google Shape;275;p21"/>
          <p:cNvSpPr txBox="1"/>
          <p:nvPr/>
        </p:nvSpPr>
        <p:spPr>
          <a:xfrm>
            <a:off x="866775" y="3843337"/>
            <a:ext cx="4743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Cinzel :</a:t>
            </a: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 Typographie à empattements inspirée de l'écriture romaine, pour les titres (noblesse et terroir).</a:t>
            </a:r>
            <a:endParaRPr/>
          </a:p>
        </p:txBody>
      </p:sp>
      <p:sp>
        <p:nvSpPr>
          <p:cNvPr id="276" name="Google Shape;276;p21"/>
          <p:cNvSpPr txBox="1"/>
          <p:nvPr/>
        </p:nvSpPr>
        <p:spPr>
          <a:xfrm>
            <a:off x="828675" y="4338637"/>
            <a:ext cx="38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866775" y="4338637"/>
            <a:ext cx="4743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Montserrat :</a:t>
            </a: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 Sans-serif moderne assurant une excellente lisibilité à l'écran.</a:t>
            </a:r>
            <a:endParaRPr/>
          </a:p>
        </p:txBody>
      </p:sp>
      <p:sp>
        <p:nvSpPr>
          <p:cNvPr id="278" name="Google Shape;278;p21"/>
          <p:cNvSpPr txBox="1"/>
          <p:nvPr/>
        </p:nvSpPr>
        <p:spPr>
          <a:xfrm>
            <a:off x="6543675" y="3300412"/>
            <a:ext cx="38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279" name="Google Shape;279;p21"/>
          <p:cNvSpPr txBox="1"/>
          <p:nvPr/>
        </p:nvSpPr>
        <p:spPr>
          <a:xfrm>
            <a:off x="6581775" y="3300412"/>
            <a:ext cx="47434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Vert Olive (#1E2E1F) :</a:t>
            </a: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 Nature, authenticité et ancrage traditionnel.</a:t>
            </a:r>
            <a:endParaRPr/>
          </a:p>
        </p:txBody>
      </p:sp>
      <p:sp>
        <p:nvSpPr>
          <p:cNvPr id="280" name="Google Shape;280;p21"/>
          <p:cNvSpPr txBox="1"/>
          <p:nvPr/>
        </p:nvSpPr>
        <p:spPr>
          <a:xfrm>
            <a:off x="6543675" y="3624262"/>
            <a:ext cx="38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281" name="Google Shape;281;p21"/>
          <p:cNvSpPr txBox="1"/>
          <p:nvPr/>
        </p:nvSpPr>
        <p:spPr>
          <a:xfrm>
            <a:off x="6581775" y="3624262"/>
            <a:ext cx="47434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Or Chaud (#C59B27) :</a:t>
            </a: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 Prestige, qualité et lumière de Tunisie.</a:t>
            </a:r>
            <a:endParaRPr/>
          </a:p>
        </p:txBody>
      </p:sp>
      <p:sp>
        <p:nvSpPr>
          <p:cNvPr id="282" name="Google Shape;282;p21"/>
          <p:cNvSpPr txBox="1"/>
          <p:nvPr/>
        </p:nvSpPr>
        <p:spPr>
          <a:xfrm>
            <a:off x="6543675" y="3948112"/>
            <a:ext cx="38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283" name="Google Shape;283;p21"/>
          <p:cNvSpPr txBox="1"/>
          <p:nvPr/>
        </p:nvSpPr>
        <p:spPr>
          <a:xfrm>
            <a:off x="6581775" y="3948112"/>
            <a:ext cx="47434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Blanc Ivoire (#FDFBF7) :</a:t>
            </a: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 Clarté, pureté et douceur.</a:t>
            </a:r>
            <a:endParaRPr/>
          </a:p>
        </p:txBody>
      </p:sp>
      <p:sp>
        <p:nvSpPr>
          <p:cNvPr id="284" name="Google Shape;284;p21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E1F"/>
                </a:solidFill>
                <a:latin typeface="Cinzel"/>
                <a:ea typeface="Cinzel"/>
                <a:cs typeface="Cinzel"/>
                <a:sym typeface="Cinzel"/>
              </a:rPr>
              <a:t>IDENTITÉ VISUELLE DE L'INTERFACE</a:t>
            </a:r>
            <a:endParaRPr/>
          </a:p>
        </p:txBody>
      </p:sp>
      <p:sp>
        <p:nvSpPr>
          <p:cNvPr id="285" name="Google Shape;285;p21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0" name="Google Shape;29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2"/>
          <p:cNvSpPr txBox="1"/>
          <p:nvPr/>
        </p:nvSpPr>
        <p:spPr>
          <a:xfrm>
            <a:off x="571500" y="571500"/>
            <a:ext cx="56007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E1F"/>
                </a:solidFill>
                <a:latin typeface="Cinzel"/>
                <a:ea typeface="Cinzel"/>
                <a:cs typeface="Cinzel"/>
                <a:sym typeface="Cinzel"/>
              </a:rPr>
              <a:t>LA PLATEFORME E-COMMERCE</a:t>
            </a:r>
            <a:endParaRPr/>
          </a:p>
        </p:txBody>
      </p:sp>
      <p:sp>
        <p:nvSpPr>
          <p:cNvPr id="292" name="Google Shape;292;p22"/>
          <p:cNvSpPr/>
          <p:nvPr/>
        </p:nvSpPr>
        <p:spPr>
          <a:xfrm>
            <a:off x="571500" y="1076325"/>
            <a:ext cx="5334000" cy="19050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3" name="Google Shape;29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0"/>
            <a:ext cx="59055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2"/>
          <p:cNvSpPr txBox="1"/>
          <p:nvPr/>
        </p:nvSpPr>
        <p:spPr>
          <a:xfrm>
            <a:off x="571500" y="1381125"/>
            <a:ext cx="56007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533E"/>
                </a:solidFill>
                <a:latin typeface="Cinzel"/>
                <a:ea typeface="Cinzel"/>
                <a:cs typeface="Cinzel"/>
                <a:sym typeface="Cinzel"/>
              </a:rPr>
              <a:t>Storytelling Immersif</a:t>
            </a:r>
            <a:endParaRPr/>
          </a:p>
        </p:txBody>
      </p:sp>
      <p:sp>
        <p:nvSpPr>
          <p:cNvPr id="295" name="Google Shape;295;p22"/>
          <p:cNvSpPr txBox="1"/>
          <p:nvPr/>
        </p:nvSpPr>
        <p:spPr>
          <a:xfrm>
            <a:off x="571500" y="1752600"/>
            <a:ext cx="533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Une vitrine articulée en sections thématiques liant tradition et modernité digitale :</a:t>
            </a:r>
            <a:endParaRPr/>
          </a:p>
        </p:txBody>
      </p:sp>
      <p:sp>
        <p:nvSpPr>
          <p:cNvPr id="296" name="Google Shape;296;p22"/>
          <p:cNvSpPr txBox="1"/>
          <p:nvPr/>
        </p:nvSpPr>
        <p:spPr>
          <a:xfrm>
            <a:off x="571500" y="2295525"/>
            <a:ext cx="533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b="1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Valorisation de l'Histoire :</a:t>
            </a: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 Intégration d'une vidéo retraçant le parcours de trois générations de la famille Fendri.</a:t>
            </a:r>
            <a:endParaRPr/>
          </a:p>
        </p:txBody>
      </p:sp>
      <p:sp>
        <p:nvSpPr>
          <p:cNvPr id="297" name="Google Shape;297;p22"/>
          <p:cNvSpPr txBox="1"/>
          <p:nvPr/>
        </p:nvSpPr>
        <p:spPr>
          <a:xfrm>
            <a:off x="571500" y="2838450"/>
            <a:ext cx="533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b="1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Expérience d'Achat Premium :</a:t>
            </a: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 Fiches produits interactives, paniers d'achat flexibles et conversion multi-devises intégrée.</a:t>
            </a:r>
            <a:endParaRPr/>
          </a:p>
        </p:txBody>
      </p:sp>
      <p:sp>
        <p:nvSpPr>
          <p:cNvPr id="298" name="Google Shape;298;p22"/>
          <p:cNvSpPr txBox="1"/>
          <p:nvPr/>
        </p:nvSpPr>
        <p:spPr>
          <a:xfrm>
            <a:off x="571500" y="3381375"/>
            <a:ext cx="533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b="1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SEO &amp; SEO Off-page :</a:t>
            </a: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 Balises meta dynamiques injectées via react-helmet-async et sitemap dynamique.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3" name="Google Shape;30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4500" y="2309812"/>
            <a:ext cx="304800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3"/>
          <p:cNvSpPr txBox="1"/>
          <p:nvPr/>
        </p:nvSpPr>
        <p:spPr>
          <a:xfrm>
            <a:off x="6286500" y="2443162"/>
            <a:ext cx="56007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533E"/>
                </a:solidFill>
                <a:latin typeface="Cinzel"/>
                <a:ea typeface="Cinzel"/>
                <a:cs typeface="Cinzel"/>
                <a:sym typeface="Cinzel"/>
              </a:rPr>
              <a:t>Parcours de Personnalisation</a:t>
            </a:r>
            <a:endParaRPr/>
          </a:p>
        </p:txBody>
      </p:sp>
      <p:sp>
        <p:nvSpPr>
          <p:cNvPr id="306" name="Google Shape;306;p23"/>
          <p:cNvSpPr txBox="1"/>
          <p:nvPr/>
        </p:nvSpPr>
        <p:spPr>
          <a:xfrm>
            <a:off x="6286500" y="2814637"/>
            <a:ext cx="5334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Un flux structuré et ergonomique en 5 étapes fluides :</a:t>
            </a:r>
            <a:endParaRPr/>
          </a:p>
        </p:txBody>
      </p:sp>
      <p:sp>
        <p:nvSpPr>
          <p:cNvPr id="307" name="Google Shape;307;p23"/>
          <p:cNvSpPr txBox="1"/>
          <p:nvPr/>
        </p:nvSpPr>
        <p:spPr>
          <a:xfrm>
            <a:off x="6286500" y="4681537"/>
            <a:ext cx="533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Demande de Devis :</a:t>
            </a: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 Calcul dynamique des tarifs et transfert instantané par API e-mail Resend.</a:t>
            </a:r>
            <a:endParaRPr/>
          </a:p>
        </p:txBody>
      </p:sp>
      <p:pic>
        <p:nvPicPr>
          <p:cNvPr descr="image.png" id="308" name="Google Shape;30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52600" y="2347912"/>
            <a:ext cx="29718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3"/>
          <p:cNvSpPr txBox="1"/>
          <p:nvPr/>
        </p:nvSpPr>
        <p:spPr>
          <a:xfrm>
            <a:off x="6400800" y="3157537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1.</a:t>
            </a:r>
            <a:endParaRPr/>
          </a:p>
        </p:txBody>
      </p:sp>
      <p:sp>
        <p:nvSpPr>
          <p:cNvPr id="310" name="Google Shape;310;p23"/>
          <p:cNvSpPr txBox="1"/>
          <p:nvPr/>
        </p:nvSpPr>
        <p:spPr>
          <a:xfrm>
            <a:off x="6477000" y="3157537"/>
            <a:ext cx="5143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Choix du Modèle :</a:t>
            </a: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 Cylindrique, carré, bidon métallique ou bio.</a:t>
            </a:r>
            <a:endParaRPr/>
          </a:p>
        </p:txBody>
      </p:sp>
      <p:sp>
        <p:nvSpPr>
          <p:cNvPr id="311" name="Google Shape;311;p23"/>
          <p:cNvSpPr txBox="1"/>
          <p:nvPr/>
        </p:nvSpPr>
        <p:spPr>
          <a:xfrm>
            <a:off x="6372225" y="3452812"/>
            <a:ext cx="1047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2.</a:t>
            </a:r>
            <a:endParaRPr/>
          </a:p>
        </p:txBody>
      </p:sp>
      <p:sp>
        <p:nvSpPr>
          <p:cNvPr id="312" name="Google Shape;312;p23"/>
          <p:cNvSpPr txBox="1"/>
          <p:nvPr/>
        </p:nvSpPr>
        <p:spPr>
          <a:xfrm>
            <a:off x="6477000" y="3452812"/>
            <a:ext cx="5143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Sélection du Volume :</a:t>
            </a: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 500 ml, 750 ml, 1 L ou 3 L.</a:t>
            </a:r>
            <a:endParaRPr/>
          </a:p>
        </p:txBody>
      </p:sp>
      <p:sp>
        <p:nvSpPr>
          <p:cNvPr id="313" name="Google Shape;313;p23"/>
          <p:cNvSpPr txBox="1"/>
          <p:nvPr/>
        </p:nvSpPr>
        <p:spPr>
          <a:xfrm>
            <a:off x="6372225" y="3748087"/>
            <a:ext cx="1047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3.</a:t>
            </a:r>
            <a:endParaRPr/>
          </a:p>
        </p:txBody>
      </p:sp>
      <p:sp>
        <p:nvSpPr>
          <p:cNvPr id="314" name="Google Shape;314;p23"/>
          <p:cNvSpPr txBox="1"/>
          <p:nvPr/>
        </p:nvSpPr>
        <p:spPr>
          <a:xfrm>
            <a:off x="6477000" y="3748087"/>
            <a:ext cx="5143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Style d'Étiquette :</a:t>
            </a: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 Classique, Moderne, Édition Prestige Or.</a:t>
            </a:r>
            <a:endParaRPr/>
          </a:p>
        </p:txBody>
      </p:sp>
      <p:sp>
        <p:nvSpPr>
          <p:cNvPr id="315" name="Google Shape;315;p23"/>
          <p:cNvSpPr txBox="1"/>
          <p:nvPr/>
        </p:nvSpPr>
        <p:spPr>
          <a:xfrm>
            <a:off x="6362700" y="4043362"/>
            <a:ext cx="1143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4.</a:t>
            </a:r>
            <a:endParaRPr/>
          </a:p>
        </p:txBody>
      </p:sp>
      <p:sp>
        <p:nvSpPr>
          <p:cNvPr id="316" name="Google Shape;316;p23"/>
          <p:cNvSpPr txBox="1"/>
          <p:nvPr/>
        </p:nvSpPr>
        <p:spPr>
          <a:xfrm>
            <a:off x="6477000" y="4043362"/>
            <a:ext cx="5143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Sélection de l'Emballage :</a:t>
            </a: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 Coffret tiroir, boîte magnétique ou bois.</a:t>
            </a:r>
            <a:endParaRPr/>
          </a:p>
        </p:txBody>
      </p:sp>
      <p:sp>
        <p:nvSpPr>
          <p:cNvPr id="317" name="Google Shape;317;p23"/>
          <p:cNvSpPr txBox="1"/>
          <p:nvPr/>
        </p:nvSpPr>
        <p:spPr>
          <a:xfrm>
            <a:off x="6372225" y="4338637"/>
            <a:ext cx="1047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5.</a:t>
            </a:r>
            <a:endParaRPr/>
          </a:p>
        </p:txBody>
      </p:sp>
      <p:sp>
        <p:nvSpPr>
          <p:cNvPr id="318" name="Google Shape;318;p23"/>
          <p:cNvSpPr txBox="1"/>
          <p:nvPr/>
        </p:nvSpPr>
        <p:spPr>
          <a:xfrm>
            <a:off x="6477000" y="4338637"/>
            <a:ext cx="5143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Message Personnalisé :</a:t>
            </a:r>
            <a:r>
              <a:rPr b="0" i="0" lang="en-US" sz="105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 Gravure d'une dédicace sur-mesure.</a:t>
            </a:r>
            <a:endParaRPr/>
          </a:p>
        </p:txBody>
      </p:sp>
      <p:sp>
        <p:nvSpPr>
          <p:cNvPr id="319" name="Google Shape;319;p23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E1F"/>
                </a:solidFill>
                <a:latin typeface="Cinzel"/>
                <a:ea typeface="Cinzel"/>
                <a:cs typeface="Cinzel"/>
                <a:sym typeface="Cinzel"/>
              </a:rPr>
              <a:t>CONFIGURATEUR 3D INTERACTIF</a:t>
            </a:r>
            <a:endParaRPr/>
          </a:p>
        </p:txBody>
      </p:sp>
      <p:sp>
        <p:nvSpPr>
          <p:cNvPr id="320" name="Google Shape;320;p23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5" name="Google Shape;32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6400" y="3293268"/>
            <a:ext cx="8839200" cy="1528762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4"/>
          <p:cNvSpPr txBox="1"/>
          <p:nvPr/>
        </p:nvSpPr>
        <p:spPr>
          <a:xfrm>
            <a:off x="1410414" y="1569243"/>
            <a:ext cx="9371171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1E2E1F"/>
                </a:solidFill>
                <a:latin typeface="Cinzel"/>
                <a:ea typeface="Cinzel"/>
                <a:cs typeface="Cinzel"/>
                <a:sym typeface="Cinzel"/>
              </a:rPr>
              <a:t>Merci pour votre Attention</a:t>
            </a:r>
            <a:endParaRPr/>
          </a:p>
        </p:txBody>
      </p:sp>
      <p:sp>
        <p:nvSpPr>
          <p:cNvPr id="328" name="Google Shape;328;p24"/>
          <p:cNvSpPr/>
          <p:nvPr/>
        </p:nvSpPr>
        <p:spPr>
          <a:xfrm>
            <a:off x="1633537" y="2436018"/>
            <a:ext cx="8924925" cy="28575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4"/>
          <p:cNvSpPr txBox="1"/>
          <p:nvPr/>
        </p:nvSpPr>
        <p:spPr>
          <a:xfrm>
            <a:off x="571500" y="2750343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B533E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DIGITALISATION DE L'EXPÉRIENCE CLIENT POUR L'HUILE D'OLIVE DOMAINE FENDRI</a:t>
            </a:r>
            <a:endParaRPr/>
          </a:p>
        </p:txBody>
      </p:sp>
      <p:sp>
        <p:nvSpPr>
          <p:cNvPr id="330" name="Google Shape;330;p24"/>
          <p:cNvSpPr txBox="1"/>
          <p:nvPr/>
        </p:nvSpPr>
        <p:spPr>
          <a:xfrm>
            <a:off x="571500" y="5107781"/>
            <a:ext cx="11049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B533E"/>
                </a:solidFill>
                <a:latin typeface="Montserrat"/>
                <a:ea typeface="Montserrat"/>
                <a:cs typeface="Montserrat"/>
                <a:sym typeface="Montserrat"/>
              </a:rPr>
              <a:t>Yessmine Hsine | Licence en Informatique &amp; Multimédia | ISIM Sfax 2026</a:t>
            </a:r>
            <a:endParaRPr/>
          </a:p>
        </p:txBody>
      </p:sp>
      <p:sp>
        <p:nvSpPr>
          <p:cNvPr id="331" name="Google Shape;331;p24"/>
          <p:cNvSpPr txBox="1"/>
          <p:nvPr/>
        </p:nvSpPr>
        <p:spPr>
          <a:xfrm>
            <a:off x="2281237" y="3493293"/>
            <a:ext cx="38004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533E"/>
                </a:solidFill>
                <a:latin typeface="Cinzel"/>
                <a:ea typeface="Cinzel"/>
                <a:cs typeface="Cinzel"/>
                <a:sym typeface="Cinzel"/>
              </a:rPr>
              <a:t>Bilan Technique</a:t>
            </a:r>
            <a:endParaRPr/>
          </a:p>
        </p:txBody>
      </p:sp>
      <p:sp>
        <p:nvSpPr>
          <p:cNvPr id="332" name="Google Shape;332;p24"/>
          <p:cNvSpPr/>
          <p:nvPr/>
        </p:nvSpPr>
        <p:spPr>
          <a:xfrm>
            <a:off x="2281237" y="3798093"/>
            <a:ext cx="3619500" cy="9525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4"/>
          <p:cNvSpPr txBox="1"/>
          <p:nvPr/>
        </p:nvSpPr>
        <p:spPr>
          <a:xfrm>
            <a:off x="2281237" y="3921918"/>
            <a:ext cx="3619500" cy="557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1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• Architecture MERN robuste &amp; sécurisée.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 • Optimisations éco-conconception (mode sombre, WebP).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 • Chatbot conversationnel multilingue avec support RTL.</a:t>
            </a:r>
            <a:endParaRPr/>
          </a:p>
        </p:txBody>
      </p:sp>
      <p:sp>
        <p:nvSpPr>
          <p:cNvPr id="334" name="Google Shape;334;p24"/>
          <p:cNvSpPr txBox="1"/>
          <p:nvPr/>
        </p:nvSpPr>
        <p:spPr>
          <a:xfrm>
            <a:off x="6710362" y="3493293"/>
            <a:ext cx="336042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533E"/>
                </a:solidFill>
                <a:latin typeface="Cinzel"/>
                <a:ea typeface="Cinzel"/>
                <a:cs typeface="Cinzel"/>
                <a:sym typeface="Cinzel"/>
              </a:rPr>
              <a:t>Perspectives</a:t>
            </a:r>
            <a:endParaRPr/>
          </a:p>
        </p:txBody>
      </p:sp>
      <p:sp>
        <p:nvSpPr>
          <p:cNvPr id="335" name="Google Shape;335;p24"/>
          <p:cNvSpPr/>
          <p:nvPr/>
        </p:nvSpPr>
        <p:spPr>
          <a:xfrm>
            <a:off x="6710362" y="3798093"/>
            <a:ext cx="3200400" cy="9525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4"/>
          <p:cNvSpPr txBox="1"/>
          <p:nvPr/>
        </p:nvSpPr>
        <p:spPr>
          <a:xfrm>
            <a:off x="6710362" y="3921918"/>
            <a:ext cx="3200400" cy="557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1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• Intégration 3D temps réel dynamique (Babylon.js).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 • Système de recommandation client basé sur l'IA.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75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 • Déploiement d'une application mobile native.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1" name="Google Shape;34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5"/>
          <p:cNvSpPr/>
          <p:nvPr/>
        </p:nvSpPr>
        <p:spPr>
          <a:xfrm>
            <a:off x="614362" y="2295525"/>
            <a:ext cx="109632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5"/>
          <p:cNvSpPr/>
          <p:nvPr/>
        </p:nvSpPr>
        <p:spPr>
          <a:xfrm>
            <a:off x="614362" y="3067050"/>
            <a:ext cx="109632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5"/>
          <p:cNvSpPr/>
          <p:nvPr/>
        </p:nvSpPr>
        <p:spPr>
          <a:xfrm>
            <a:off x="614362" y="3838575"/>
            <a:ext cx="109632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5"/>
          <p:cNvSpPr/>
          <p:nvPr/>
        </p:nvSpPr>
        <p:spPr>
          <a:xfrm>
            <a:off x="614362" y="3057525"/>
            <a:ext cx="109632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5"/>
          <p:cNvSpPr/>
          <p:nvPr/>
        </p:nvSpPr>
        <p:spPr>
          <a:xfrm>
            <a:off x="614362" y="3057525"/>
            <a:ext cx="109632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5"/>
          <p:cNvSpPr/>
          <p:nvPr/>
        </p:nvSpPr>
        <p:spPr>
          <a:xfrm>
            <a:off x="614362" y="3829050"/>
            <a:ext cx="109632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5"/>
          <p:cNvSpPr/>
          <p:nvPr/>
        </p:nvSpPr>
        <p:spPr>
          <a:xfrm>
            <a:off x="614362" y="3829050"/>
            <a:ext cx="109632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5"/>
          <p:cNvSpPr/>
          <p:nvPr/>
        </p:nvSpPr>
        <p:spPr>
          <a:xfrm>
            <a:off x="614362" y="4600575"/>
            <a:ext cx="109632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5"/>
          <p:cNvSpPr/>
          <p:nvPr/>
        </p:nvSpPr>
        <p:spPr>
          <a:xfrm>
            <a:off x="614362" y="4600575"/>
            <a:ext cx="109632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51" name="Google Shape;35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362" y="24384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5"/>
          <p:cNvSpPr txBox="1"/>
          <p:nvPr/>
        </p:nvSpPr>
        <p:spPr>
          <a:xfrm>
            <a:off x="1709737" y="2445543"/>
            <a:ext cx="986790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https://www.lagourmetbox.com/media/catalog/product/cache/bbb32a7131474ce6dbca563d43ee405c/l/a/la_olive_box_800x800.jpg</a:t>
            </a:r>
            <a:endParaRPr/>
          </a:p>
        </p:txBody>
      </p:sp>
      <p:sp>
        <p:nvSpPr>
          <p:cNvPr id="353" name="Google Shape;353;p25"/>
          <p:cNvSpPr txBox="1"/>
          <p:nvPr/>
        </p:nvSpPr>
        <p:spPr>
          <a:xfrm>
            <a:off x="1709737" y="2678906"/>
            <a:ext cx="9867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www.lagourmetbox.com</a:t>
            </a:r>
            <a:endParaRPr/>
          </a:p>
        </p:txBody>
      </p:sp>
      <p:pic>
        <p:nvPicPr>
          <p:cNvPr descr="image.png" id="354" name="Google Shape;35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4362" y="32099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5"/>
          <p:cNvSpPr txBox="1"/>
          <p:nvPr/>
        </p:nvSpPr>
        <p:spPr>
          <a:xfrm>
            <a:off x="1709737" y="3217068"/>
            <a:ext cx="986790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https://p.turbosquid.com/ts-thumb/Mt/AuKFpd/Ot/wireframe/png/1669028741/1920x1080/fit_q87/4709d38b6c09d494c612cc47b30abd14c3a78cd6/wireframe.jpg</a:t>
            </a:r>
            <a:endParaRPr/>
          </a:p>
        </p:txBody>
      </p:sp>
      <p:sp>
        <p:nvSpPr>
          <p:cNvPr id="356" name="Google Shape;356;p25"/>
          <p:cNvSpPr txBox="1"/>
          <p:nvPr/>
        </p:nvSpPr>
        <p:spPr>
          <a:xfrm>
            <a:off x="1709737" y="3450431"/>
            <a:ext cx="9867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www.turbosquid.com</a:t>
            </a:r>
            <a:endParaRPr/>
          </a:p>
        </p:txBody>
      </p:sp>
      <p:pic>
        <p:nvPicPr>
          <p:cNvPr descr="image.png" id="357" name="Google Shape;357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4362" y="39814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5"/>
          <p:cNvSpPr txBox="1"/>
          <p:nvPr/>
        </p:nvSpPr>
        <p:spPr>
          <a:xfrm>
            <a:off x="1709737" y="3988593"/>
            <a:ext cx="986790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https://worldbranddesign.com/wp-content/uploads/2020/10/01_Vassae_WBD.jpg</a:t>
            </a:r>
            <a:endParaRPr/>
          </a:p>
        </p:txBody>
      </p:sp>
      <p:sp>
        <p:nvSpPr>
          <p:cNvPr id="359" name="Google Shape;359;p25"/>
          <p:cNvSpPr txBox="1"/>
          <p:nvPr/>
        </p:nvSpPr>
        <p:spPr>
          <a:xfrm>
            <a:off x="1709737" y="4221956"/>
            <a:ext cx="9867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worldbranddesign.com</a:t>
            </a:r>
            <a:endParaRPr/>
          </a:p>
        </p:txBody>
      </p:sp>
      <p:pic>
        <p:nvPicPr>
          <p:cNvPr descr="image.png" id="360" name="Google Shape;360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4362" y="47529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25"/>
          <p:cNvSpPr txBox="1"/>
          <p:nvPr/>
        </p:nvSpPr>
        <p:spPr>
          <a:xfrm>
            <a:off x="1709737" y="4760118"/>
            <a:ext cx="986790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https://www.holyoliveoil.com.au/cdn/shop/files/930213A7-383E-4B93-9441-BDA7735E2AD7.png?v=1755567329&amp;width=3840</a:t>
            </a:r>
            <a:endParaRPr/>
          </a:p>
        </p:txBody>
      </p:sp>
      <p:sp>
        <p:nvSpPr>
          <p:cNvPr id="362" name="Google Shape;362;p25"/>
          <p:cNvSpPr txBox="1"/>
          <p:nvPr/>
        </p:nvSpPr>
        <p:spPr>
          <a:xfrm>
            <a:off x="1709737" y="4993481"/>
            <a:ext cx="9867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C3531"/>
                </a:solidFill>
                <a:latin typeface="Montserrat"/>
                <a:ea typeface="Montserrat"/>
                <a:cs typeface="Montserrat"/>
                <a:sym typeface="Montserra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www.holyoliveoil.com.au</a:t>
            </a:r>
            <a:endParaRPr/>
          </a:p>
        </p:txBody>
      </p:sp>
      <p:sp>
        <p:nvSpPr>
          <p:cNvPr id="363" name="Google Shape;363;p25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E1F"/>
                </a:solidFill>
                <a:latin typeface="Cinzel"/>
                <a:ea typeface="Cinzel"/>
                <a:cs typeface="Cinzel"/>
                <a:sym typeface="Cinzel"/>
              </a:rPr>
              <a:t>IMAGE SOURCES</a:t>
            </a:r>
            <a:endParaRPr/>
          </a:p>
        </p:txBody>
      </p:sp>
      <p:sp>
        <p:nvSpPr>
          <p:cNvPr id="364" name="Google Shape;364;p25"/>
          <p:cNvSpPr/>
          <p:nvPr/>
        </p:nvSpPr>
        <p:spPr>
          <a:xfrm>
            <a:off x="571500" y="981075"/>
            <a:ext cx="11049000" cy="19050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